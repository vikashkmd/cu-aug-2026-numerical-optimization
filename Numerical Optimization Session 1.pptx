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81" r:id="rId6"/>
    <p:sldId id="260" r:id="rId7"/>
    <p:sldId id="282" r:id="rId8"/>
    <p:sldId id="283" r:id="rId9"/>
    <p:sldId id="284" r:id="rId10"/>
    <p:sldId id="262" r:id="rId11"/>
    <p:sldId id="285" r:id="rId12"/>
    <p:sldId id="286" r:id="rId13"/>
    <p:sldId id="263" r:id="rId14"/>
    <p:sldId id="264" r:id="rId15"/>
    <p:sldId id="288" r:id="rId16"/>
    <p:sldId id="287" r:id="rId17"/>
    <p:sldId id="265" r:id="rId18"/>
    <p:sldId id="266" r:id="rId19"/>
    <p:sldId id="289" r:id="rId20"/>
    <p:sldId id="267" r:id="rId21"/>
    <p:sldId id="291" r:id="rId22"/>
    <p:sldId id="268" r:id="rId23"/>
    <p:sldId id="290" r:id="rId24"/>
    <p:sldId id="269" r:id="rId25"/>
    <p:sldId id="292" r:id="rId26"/>
    <p:sldId id="271" r:id="rId27"/>
    <p:sldId id="293" r:id="rId28"/>
    <p:sldId id="272" r:id="rId29"/>
    <p:sldId id="273" r:id="rId30"/>
    <p:sldId id="294" r:id="rId31"/>
    <p:sldId id="274" r:id="rId32"/>
    <p:sldId id="275" r:id="rId33"/>
    <p:sldId id="295" r:id="rId34"/>
    <p:sldId id="278" r:id="rId35"/>
    <p:sldId id="296" r:id="rId36"/>
    <p:sldId id="279" r:id="rId37"/>
    <p:sldId id="280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565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Frame the class as a practical session on how businesses choose the best possible decision under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type one business decision where optimization may help: pricing, inventory, staffing, route planning, advertising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that this lecture builds the foundation for evolutionary algorithms: before searching for an optimum, we must define what optimum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best is always with respect to an objective. Different objectives can lead to different optimal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9EBF-CC09-BAE6-D5CD-A412FB27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747F6-85C8-4879-5616-A2C01D454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DD9E2-EAD4-49CC-37C1-33743C585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identify decision variable, objective and constraint in one of the listed examples.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1125-9297-64FD-D3DD-7C2EEF7A0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99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identify decision variable, objective and constraint in one of the listed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4ADB-F2D5-237C-0986-AFF27DA0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38456-3D67-C435-39E8-0F080999E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07FE0-7FAE-75BF-B65C-592A9C421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527B7-EA73-287E-FB72-3C7E720B7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8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intended to be interactive. Give 2 minutes for participants to share examples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663F-BB8F-8BD0-B68E-6DC952D03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410BC-9A73-D4EC-46F7-0117413D6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727B6-2CEE-BE29-C30A-08F6E9A05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objective function defines success. In interviews and consulting projects, unclear objectives are a common failure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7A450-1002-E535-E078-2D67BCD27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72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E0D8-D67B-6CC3-5853-E4C294C5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6B190-247D-6896-EC66-008210159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59DE7-0A83-9700-CF2A-392AD685C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objective function defines success. In interviews and consulting projects, unclear objectives are a common failure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B0024-B4DE-1118-A033-EF31A25BA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objective function defines success. In interviews and consulting projects, unclear objectives are a common failure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examples: you cannot schedule employees beyond labour rules; you cannot allocate more budget than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0D4EE-9875-7A60-005F-6A91D5F2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7173F-BCFA-FF29-3D95-59D44237D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6CCD7-690A-D879-A9FA-8A168344B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problem statement; ask learners to identify decision variables before showing the formulation.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6BCAC-E6B8-82B0-6989-619C3BC08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74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7FFA-5EA0-019D-07D8-CFA9DC4C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72291-52B2-4DC6-9806-FA9C8E7F5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94261-433E-EB65-AC3D-57E4F5971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problem statement; ask learners to identify decision variables before showing the formulation.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5D6F5-8308-6C0D-86BE-F81EA1F62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2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problem statement; ask learners to identify decision variables before showing the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graphical solution works neatly for two variables. Larger models use algorithms such as simplex or interior point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2DD9-A7DE-44EE-B21E-9B9C0BCC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91FA0-6E9E-C6BF-0C3A-4753BAE9C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894E8-3A83-6AAD-6E87-C9AADD8AA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live poll. Ask students to answer in chat before revealing the explanation.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C0506-ED67-29B3-D097-7F506A617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33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live poll. Ask students to answer in chat before revealing the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6719-E526-2751-C5CD-71F6A82D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9D98B-CB41-3EE6-3BD5-A39453E22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E417F-FA4A-46C1-8760-C987F6CE0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create two sentences: one that is an objective and one that is a constraint.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42E47-25FE-80ED-6DED-D8016ABC1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2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create two sentences: one that is an objective and one that is a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CDAB-6027-C3F7-12EE-B717CE12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F9780-7BBF-13BC-17B6-7F1284EFE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11BE4-AAA9-A13A-C13A-1E4C2DEE3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create two sentences: one that is an objective and one that is a constraint.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89E29-C3C3-AE9C-337E-ECF13D6E2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93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timetable example: first, no clashes; second, minimize idle time or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99DD5-5EBA-6453-F3D5-977E8B6B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D6A5D-8854-98E5-505A-909A71BC9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C3F8B-B667-D12A-27FB-5073F8E62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timetable example: first, no clashes; second, minimize idle time or cost.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9B93-9588-7007-E36E-04E0ADEC1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984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linear does not mean easy for large problems; it means relationship structure is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7C84-3DAA-35B7-EA93-0EEC87DA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00DA7-BB83-9180-ED0D-55AD70E60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E08A8-2BA8-6C1F-ED39-29472270A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revealing the answer, ask learners to explain why option C is different from the others.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EF8D1-3F94-E88F-76C3-35D5BE71E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862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revealing the answer, ask learners to explain why option C is different from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price elasticity or ad response curves as intuitive nonlinear business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1F39-AA21-1AA5-CE6E-AC9FBF03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5C545-4D57-546C-B628-0FF363B8A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49E72-5D33-CF8D-0522-B5D457C71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price elasticity or ad response curves as intuitive nonlinear business examples.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E79EC-859B-C647-948B-B71535B8A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677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deliberately simple. The goal is not calculus depth, but showing that slope guides the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summary slide; give students language to use in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B76F-7F47-0AAD-83A2-31534292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47C70-3631-4421-372A-8C640AD92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E8FE8-7ADF-36B4-3697-2E440D37B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summary slide; give students language to use in interviews.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BFBFC-CF7D-9962-7D33-7DF9D93B5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39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quick recap and ask students to justify answers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93A09-7108-0C1F-05EE-444C3FAB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7896C-9B21-A90D-247C-665CB4B4B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B6746-95BA-5120-84AF-AF4746A81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quick recap and ask students to justify answers in their own words.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B6F15-48F5-82E9-AF07-A4A543212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159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asking students to describe one optimization problem from their workplace or daily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learners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2770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Session Name: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10896" y="312724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02124"/>
                </a:solidFill>
              </a:rPr>
              <a:t>Numerical Optimization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10896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Evolutionary Algorithms and Numerical Optimization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10896" y="45902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02124"/>
                </a:solidFill>
              </a:rPr>
              <a:t>Delivered By: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202124"/>
                </a:solidFill>
              </a:rPr>
              <a:t>Vikash Singh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356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Guidelines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79FF5-38F7-034F-FF06-AFAF171EC228}"/>
              </a:ext>
            </a:extLst>
          </p:cNvPr>
          <p:cNvSpPr txBox="1"/>
          <p:nvPr/>
        </p:nvSpPr>
        <p:spPr>
          <a:xfrm>
            <a:off x="158764" y="1178022"/>
            <a:ext cx="5645426" cy="50195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Tips to be more interactive in Live Session</a:t>
            </a:r>
            <a:endParaRPr lang="en-US" sz="2000" dirty="0"/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Maintain discipline for smooth conductance of the interactive live session.</a:t>
            </a:r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Type in your Name, UID and Program name on chat to mark your attendance. </a:t>
            </a:r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Raise your questions only after completion of session and do not intervene in between.</a:t>
            </a:r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Avoid posting irrelevant questions. Also, don’t start any personalized conversation.</a:t>
            </a:r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Interaction with faculty should be constructive, and no disruptive comment is appreciated.</a:t>
            </a:r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0055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For any issues, please contact our academic support service </a:t>
            </a:r>
            <a:r>
              <a:rPr lang="en-US" sz="2000" b="1" dirty="0"/>
              <a:t>@ 9520954727 or post your queries on </a:t>
            </a:r>
            <a:r>
              <a:rPr lang="en-US" sz="2000" b="0" i="0" dirty="0">
                <a:effectLst/>
              </a:rPr>
              <a:t>srm@onlinevgu.com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329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31B23"/>
                </a:solidFill>
              </a:rPr>
              <a:t>Learning Objectives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85216" y="1504696"/>
            <a:ext cx="82682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By the end of this session, you will be able to: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85216" y="2139696"/>
            <a:ext cx="10092944" cy="3905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optimization and explain why it matters in business decisions.</a:t>
            </a:r>
          </a:p>
          <a:p>
            <a:pPr marL="152400" indent="-152400">
              <a:buSzPct val="100000"/>
              <a:buChar char="•"/>
            </a:pP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Formulate an optimization problem using decision variables, objective function and constraints.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endParaRPr lang="en-US" sz="24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Differentiate optimization from constraint satisfaction problems.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endParaRPr lang="en-US" sz="24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 simple numerical examples for linear and nonlinear optimization.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endParaRPr lang="en-US" sz="24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when a problem is linear versus nonlinear.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Introduction to Optimization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A structured way to choose the best option under given limitations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2124"/>
                </a:solidFill>
              </a:rPr>
              <a:t>Optimization = making the best possible decision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8368" y="1856232"/>
            <a:ext cx="5212080" cy="47457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 choices: price, quantity, budget, schedule, allocation, route.</a:t>
            </a:r>
          </a:p>
          <a:p>
            <a:pPr marL="152400" indent="-152400">
              <a:buSzPct val="100000"/>
              <a:buChar char="•"/>
            </a:pP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 a goal: maximize profit, minimize cost, reduce waiting time, improve accuracy.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endParaRPr lang="en-US" sz="20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 limits: budget, capacity, time, resources, policy, service levels.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endParaRPr lang="en-US" sz="20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converts a messy business decision into a solvable mathematical model.</a:t>
            </a:r>
            <a:endParaRPr lang="en-US" sz="2000" dirty="0"/>
          </a:p>
        </p:txBody>
      </p:sp>
      <p:pic>
        <p:nvPicPr>
          <p:cNvPr id="7" name="Image 1" descr="/mnt/data/cu_opt_assets/profit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309" y="1682497"/>
            <a:ext cx="4979651" cy="29574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5080" y="5440680"/>
            <a:ext cx="5491480" cy="96012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Manager’s question: “Which decision gives the best outcome?”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Optimizer’s answer: “Let us define best, then search systematically.”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6D23-CAFF-ACAE-F1B6-4E56BBE3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A97BB02A-8D84-5274-E15F-517893831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C4166E6-2869-A1FD-F9E2-E1555428FC72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Optimization Shows Up in Business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7A44299-FA41-5EC2-5B69-F548FAF8CBEA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Same logic, different domains</a:t>
            </a:r>
            <a:endParaRPr lang="en-US" sz="11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AEF851E-90DE-4839-FD72-988B8B35CA9D}"/>
              </a:ext>
            </a:extLst>
          </p:cNvPr>
          <p:cNvSpPr/>
          <p:nvPr/>
        </p:nvSpPr>
        <p:spPr>
          <a:xfrm>
            <a:off x="594360" y="1051560"/>
            <a:ext cx="1923898" cy="777240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10CFF89-252A-DC58-3717-4BBFBE04D48F}"/>
              </a:ext>
            </a:extLst>
          </p:cNvPr>
          <p:cNvSpPr/>
          <p:nvPr/>
        </p:nvSpPr>
        <p:spPr>
          <a:xfrm>
            <a:off x="649224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Pricing</a:t>
            </a:r>
            <a:endParaRPr lang="en-US" sz="12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F7891E8-706B-6DA3-96EF-587773117810}"/>
              </a:ext>
            </a:extLst>
          </p:cNvPr>
          <p:cNvSpPr/>
          <p:nvPr/>
        </p:nvSpPr>
        <p:spPr>
          <a:xfrm>
            <a:off x="2719426" y="1051560"/>
            <a:ext cx="1923898" cy="777240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D99D43A-4881-69A0-CD85-3F006B1DAAC2}"/>
              </a:ext>
            </a:extLst>
          </p:cNvPr>
          <p:cNvSpPr/>
          <p:nvPr/>
        </p:nvSpPr>
        <p:spPr>
          <a:xfrm>
            <a:off x="2774290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Inventory</a:t>
            </a:r>
            <a:endParaRPr lang="en-US"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E654C17-19C4-740F-E79B-AF261DDD12D6}"/>
              </a:ext>
            </a:extLst>
          </p:cNvPr>
          <p:cNvSpPr/>
          <p:nvPr/>
        </p:nvSpPr>
        <p:spPr>
          <a:xfrm>
            <a:off x="4844491" y="1051560"/>
            <a:ext cx="1923898" cy="777240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EE2D3A6-992C-A114-E682-0808BA3C22E1}"/>
              </a:ext>
            </a:extLst>
          </p:cNvPr>
          <p:cNvSpPr/>
          <p:nvPr/>
        </p:nvSpPr>
        <p:spPr>
          <a:xfrm>
            <a:off x="4899355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Staffing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2790FB1-4EB2-5AE4-3BF2-CA62D41E77B5}"/>
              </a:ext>
            </a:extLst>
          </p:cNvPr>
          <p:cNvSpPr/>
          <p:nvPr/>
        </p:nvSpPr>
        <p:spPr>
          <a:xfrm>
            <a:off x="6969557" y="1051560"/>
            <a:ext cx="1923898" cy="777240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A3C2EB-442D-5299-EB88-39B8FF25A7C2}"/>
              </a:ext>
            </a:extLst>
          </p:cNvPr>
          <p:cNvSpPr/>
          <p:nvPr/>
        </p:nvSpPr>
        <p:spPr>
          <a:xfrm>
            <a:off x="7024421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Logistics</a:t>
            </a:r>
            <a:endParaRPr lang="en-US" sz="12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8A35137-FF67-0D72-90CE-CE2A882B2920}"/>
              </a:ext>
            </a:extLst>
          </p:cNvPr>
          <p:cNvSpPr/>
          <p:nvPr/>
        </p:nvSpPr>
        <p:spPr>
          <a:xfrm>
            <a:off x="9094622" y="1051560"/>
            <a:ext cx="1923898" cy="777240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2291A23-8D0C-9E5E-05FD-02C04832144E}"/>
              </a:ext>
            </a:extLst>
          </p:cNvPr>
          <p:cNvSpPr/>
          <p:nvPr/>
        </p:nvSpPr>
        <p:spPr>
          <a:xfrm>
            <a:off x="9149486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Marketing</a:t>
            </a:r>
            <a:endParaRPr lang="en-US" sz="12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152797B-15E1-4F0D-B04E-2BC09489DE3A}"/>
              </a:ext>
            </a:extLst>
          </p:cNvPr>
          <p:cNvSpPr/>
          <p:nvPr/>
        </p:nvSpPr>
        <p:spPr>
          <a:xfrm>
            <a:off x="594360" y="2057400"/>
            <a:ext cx="187452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area</a:t>
            </a:r>
            <a:endParaRPr lang="en-US" sz="122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A56D88F-560F-1EAC-AEEF-39443C69817E}"/>
              </a:ext>
            </a:extLst>
          </p:cNvPr>
          <p:cNvSpPr/>
          <p:nvPr/>
        </p:nvSpPr>
        <p:spPr>
          <a:xfrm>
            <a:off x="2468880" y="2057400"/>
            <a:ext cx="246888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variable</a:t>
            </a:r>
            <a:endParaRPr lang="en-US" sz="122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F62EA74-CE32-B55D-20A2-0726E83A2852}"/>
              </a:ext>
            </a:extLst>
          </p:cNvPr>
          <p:cNvSpPr/>
          <p:nvPr/>
        </p:nvSpPr>
        <p:spPr>
          <a:xfrm>
            <a:off x="4937760" y="2057400"/>
            <a:ext cx="288036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22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C96819-5CE0-A1F4-FA56-6C9706A7AC70}"/>
              </a:ext>
            </a:extLst>
          </p:cNvPr>
          <p:cNvSpPr/>
          <p:nvPr/>
        </p:nvSpPr>
        <p:spPr>
          <a:xfrm>
            <a:off x="7818120" y="2057400"/>
            <a:ext cx="347472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constraint</a:t>
            </a:r>
            <a:endParaRPr lang="en-US" sz="122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86DF3ED-926E-F08A-D172-C37B683ABC18}"/>
              </a:ext>
            </a:extLst>
          </p:cNvPr>
          <p:cNvSpPr/>
          <p:nvPr/>
        </p:nvSpPr>
        <p:spPr>
          <a:xfrm>
            <a:off x="594360" y="2633472"/>
            <a:ext cx="18745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</a:t>
            </a:r>
            <a:endParaRPr lang="en-US" sz="122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77FD290-6AEE-C43A-F3B3-D3713E66EBA1}"/>
              </a:ext>
            </a:extLst>
          </p:cNvPr>
          <p:cNvSpPr/>
          <p:nvPr/>
        </p:nvSpPr>
        <p:spPr>
          <a:xfrm>
            <a:off x="2468880" y="2633472"/>
            <a:ext cx="246888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/ discount</a:t>
            </a:r>
            <a:endParaRPr lang="en-US" sz="122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C1988C8-78B1-0B20-1202-D08EE4034254}"/>
              </a:ext>
            </a:extLst>
          </p:cNvPr>
          <p:cNvSpPr/>
          <p:nvPr/>
        </p:nvSpPr>
        <p:spPr>
          <a:xfrm>
            <a:off x="4937760" y="2633472"/>
            <a:ext cx="288036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revenue or margin</a:t>
            </a:r>
            <a:endParaRPr lang="en-US" sz="122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878564D-D62E-162E-5644-37DCC8945E12}"/>
              </a:ext>
            </a:extLst>
          </p:cNvPr>
          <p:cNvSpPr/>
          <p:nvPr/>
        </p:nvSpPr>
        <p:spPr>
          <a:xfrm>
            <a:off x="7818120" y="2633472"/>
            <a:ext cx="34747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response, competition</a:t>
            </a:r>
            <a:endParaRPr lang="en-US" sz="122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97943EC-48F5-75F5-1751-D3E3520AE370}"/>
              </a:ext>
            </a:extLst>
          </p:cNvPr>
          <p:cNvSpPr/>
          <p:nvPr/>
        </p:nvSpPr>
        <p:spPr>
          <a:xfrm>
            <a:off x="594360" y="3209544"/>
            <a:ext cx="18745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22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184BC95-BFF5-18CC-AEF0-F8BDD6353246}"/>
              </a:ext>
            </a:extLst>
          </p:cNvPr>
          <p:cNvSpPr/>
          <p:nvPr/>
        </p:nvSpPr>
        <p:spPr>
          <a:xfrm>
            <a:off x="2468880" y="3209544"/>
            <a:ext cx="24688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quantity</a:t>
            </a:r>
            <a:endParaRPr lang="en-US" sz="122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575F1A9-75F6-A698-B410-6521FFF27437}"/>
              </a:ext>
            </a:extLst>
          </p:cNvPr>
          <p:cNvSpPr/>
          <p:nvPr/>
        </p:nvSpPr>
        <p:spPr>
          <a:xfrm>
            <a:off x="4937760" y="3209544"/>
            <a:ext cx="288036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stockout + holding cost</a:t>
            </a:r>
            <a:endParaRPr lang="en-US" sz="122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9E3693F-7C7F-0079-0153-0F8BD1825411}"/>
              </a:ext>
            </a:extLst>
          </p:cNvPr>
          <p:cNvSpPr/>
          <p:nvPr/>
        </p:nvSpPr>
        <p:spPr>
          <a:xfrm>
            <a:off x="7818120" y="3209544"/>
            <a:ext cx="34747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capacity, cash</a:t>
            </a:r>
            <a:endParaRPr lang="en-US" sz="122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44613BF-E1FE-82C7-2684-A5245E723889}"/>
              </a:ext>
            </a:extLst>
          </p:cNvPr>
          <p:cNvSpPr/>
          <p:nvPr/>
        </p:nvSpPr>
        <p:spPr>
          <a:xfrm>
            <a:off x="594360" y="3785616"/>
            <a:ext cx="18745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</a:t>
            </a:r>
            <a:endParaRPr lang="en-US" sz="122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4D54DE4-5FA0-083D-A707-0235D213D886}"/>
              </a:ext>
            </a:extLst>
          </p:cNvPr>
          <p:cNvSpPr/>
          <p:nvPr/>
        </p:nvSpPr>
        <p:spPr>
          <a:xfrm>
            <a:off x="2468880" y="3785616"/>
            <a:ext cx="246888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agents per shift</a:t>
            </a:r>
            <a:endParaRPr lang="en-US" sz="122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2C8FDEE-37BF-690A-06DF-7E4ACBA5EF5E}"/>
              </a:ext>
            </a:extLst>
          </p:cNvPr>
          <p:cNvSpPr/>
          <p:nvPr/>
        </p:nvSpPr>
        <p:spPr>
          <a:xfrm>
            <a:off x="4937760" y="3785616"/>
            <a:ext cx="288036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wait time / cost</a:t>
            </a:r>
            <a:endParaRPr lang="en-US" sz="122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9C6F715-040E-1416-6569-4A3CD9C13DC6}"/>
              </a:ext>
            </a:extLst>
          </p:cNvPr>
          <p:cNvSpPr/>
          <p:nvPr/>
        </p:nvSpPr>
        <p:spPr>
          <a:xfrm>
            <a:off x="7818120" y="3785616"/>
            <a:ext cx="34747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Labour hours, SLA</a:t>
            </a:r>
            <a:endParaRPr lang="en-US" sz="122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A3E77C8-0BA2-BD90-41B9-0D272BB0BCA6}"/>
              </a:ext>
            </a:extLst>
          </p:cNvPr>
          <p:cNvSpPr/>
          <p:nvPr/>
        </p:nvSpPr>
        <p:spPr>
          <a:xfrm>
            <a:off x="594360" y="4361688"/>
            <a:ext cx="18745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22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F7FEDD5-F33E-CA18-2391-0C62331462E0}"/>
              </a:ext>
            </a:extLst>
          </p:cNvPr>
          <p:cNvSpPr/>
          <p:nvPr/>
        </p:nvSpPr>
        <p:spPr>
          <a:xfrm>
            <a:off x="2468880" y="4361688"/>
            <a:ext cx="24688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by channel</a:t>
            </a:r>
            <a:endParaRPr lang="en-US" sz="122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C59203C8-0DAC-7B4A-6368-B6AA476CAE62}"/>
              </a:ext>
            </a:extLst>
          </p:cNvPr>
          <p:cNvSpPr/>
          <p:nvPr/>
        </p:nvSpPr>
        <p:spPr>
          <a:xfrm>
            <a:off x="4937760" y="4361688"/>
            <a:ext cx="288036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leads / ROI</a:t>
            </a:r>
            <a:endParaRPr lang="en-US" sz="122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435EF81-9F0A-6DC5-87E3-9FC8BBD61489}"/>
              </a:ext>
            </a:extLst>
          </p:cNvPr>
          <p:cNvSpPr/>
          <p:nvPr/>
        </p:nvSpPr>
        <p:spPr>
          <a:xfrm>
            <a:off x="7818120" y="4361688"/>
            <a:ext cx="34747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budget, reach, risk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136211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Optimization Shows Up in Business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Same logic, different domains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4360" y="1051560"/>
            <a:ext cx="1923898" cy="777240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9224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Pricing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19426" y="1051560"/>
            <a:ext cx="1923898" cy="777240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74290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Inventory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44491" y="1051560"/>
            <a:ext cx="1923898" cy="777240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9355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Staffing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69557" y="1051560"/>
            <a:ext cx="1923898" cy="777240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24421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Logistics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094622" y="1051560"/>
            <a:ext cx="1923898" cy="777240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9486" y="1161288"/>
            <a:ext cx="181417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Marketing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2057400"/>
            <a:ext cx="187452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area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68880" y="2057400"/>
            <a:ext cx="246888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variable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2057400"/>
            <a:ext cx="288036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18120" y="2057400"/>
            <a:ext cx="347472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constraint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2633472"/>
            <a:ext cx="18745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468880" y="2633472"/>
            <a:ext cx="246888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/ discount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2633472"/>
            <a:ext cx="288036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revenue or margin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818120" y="2633472"/>
            <a:ext cx="34747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response, competition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" y="3209544"/>
            <a:ext cx="18745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468880" y="3209544"/>
            <a:ext cx="24688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quantity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37760" y="3209544"/>
            <a:ext cx="288036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stockout + holding cost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18120" y="3209544"/>
            <a:ext cx="34747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capacity, cash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4360" y="3785616"/>
            <a:ext cx="18745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468880" y="3785616"/>
            <a:ext cx="246888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agents per shift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37760" y="3785616"/>
            <a:ext cx="288036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wait time / cost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18120" y="3785616"/>
            <a:ext cx="34747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Labour hours, SLA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94360" y="4361688"/>
            <a:ext cx="18745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468880" y="4361688"/>
            <a:ext cx="24688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by channel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37760" y="4361688"/>
            <a:ext cx="288036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leads / ROI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818120" y="4361688"/>
            <a:ext cx="34747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budget, reach, risk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85800" y="5394960"/>
            <a:ext cx="10607040" cy="1056640"/>
          </a:xfrm>
          <a:prstGeom prst="rect">
            <a:avLst/>
          </a:prstGeom>
          <a:solidFill>
            <a:srgbClr val="F7F7F7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Optimization is a decision framework: it forces clarity on choices, goals and limits before calculation begins.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31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Mathematical Formulation — Simple View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75488" y="80467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means selecting the best possible decision within given limits.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103327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optimization problem answers one practical question: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" y="175564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1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“What should we choose so that the result is best?”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749808" y="2606040"/>
            <a:ext cx="3154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397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86968" y="2788920"/>
            <a:ext cx="411480" cy="411480"/>
          </a:xfrm>
          <a:prstGeom prst="ellipse">
            <a:avLst/>
          </a:prstGeom>
          <a:solidFill>
            <a:srgbClr val="E31B2F"/>
          </a:solidFill>
          <a:ln w="1270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6968" y="2852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08176" y="2770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Variable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408176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we control? Example: number of units to produce.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3977640" y="3108960"/>
            <a:ext cx="457200" cy="0"/>
          </a:xfrm>
          <a:prstGeom prst="line">
            <a:avLst/>
          </a:prstGeom>
          <a:noFill/>
          <a:ln w="27940">
            <a:solidFill>
              <a:srgbClr val="E31B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26280" y="2606040"/>
            <a:ext cx="3154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397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" cy="411480"/>
          </a:xfrm>
          <a:prstGeom prst="ellipse">
            <a:avLst/>
          </a:prstGeom>
          <a:solidFill>
            <a:srgbClr val="E31B2F"/>
          </a:solidFill>
          <a:ln w="1270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63440" y="2852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84648" y="2770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184648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want? Maximize profit or minimize cost.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7744968" y="3108960"/>
            <a:ext cx="457200" cy="0"/>
          </a:xfrm>
          <a:prstGeom prst="line">
            <a:avLst/>
          </a:prstGeom>
          <a:noFill/>
          <a:ln w="27940">
            <a:solidFill>
              <a:srgbClr val="E31B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02752" y="2606040"/>
            <a:ext cx="3154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397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439912" y="2788920"/>
            <a:ext cx="411480" cy="411480"/>
          </a:xfrm>
          <a:prstGeom prst="ellipse">
            <a:avLst/>
          </a:prstGeom>
          <a:solidFill>
            <a:srgbClr val="E31B2F"/>
          </a:solidFill>
          <a:ln w="1270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39912" y="2852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0" y="2770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961120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limits us? Budget, time, capacity, demand.</a:t>
            </a:r>
            <a:endParaRPr lang="en-US" sz="1280" dirty="0"/>
          </a:p>
        </p:txBody>
      </p:sp>
      <p:sp>
        <p:nvSpPr>
          <p:cNvPr id="24" name="Shape 21"/>
          <p:cNvSpPr/>
          <p:nvPr/>
        </p:nvSpPr>
        <p:spPr>
          <a:xfrm>
            <a:off x="1143000" y="434340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80160" y="4453128"/>
            <a:ext cx="9646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22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Choose x  →  Maximize / Minimize f(x)  →  Subject to limits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3063240" y="5596128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BE8EB"/>
          </a:solidFill>
          <a:ln w="1270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154680" y="571500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 = best feasible decision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31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Example: Turning Business Language into Math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75488" y="80467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factory makes Product A and Product B. The manager wants the most profitable production plan.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58368" y="13258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BE8EB"/>
          </a:solidFill>
          <a:ln w="1397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77824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many units of A and B should we produce?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514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maximize profit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Limits: machine time and demand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886200" y="3520440"/>
            <a:ext cx="685800" cy="0"/>
          </a:xfrm>
          <a:prstGeom prst="line">
            <a:avLst/>
          </a:prstGeom>
          <a:noFill/>
          <a:ln w="27940">
            <a:solidFill>
              <a:srgbClr val="E31B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4285-8737-5696-2AB8-64187EED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media/image3.jpg">
            <a:extLst>
              <a:ext uri="{FF2B5EF4-FFF2-40B4-BE49-F238E27FC236}">
                <a16:creationId xmlns:a16="http://schemas.microsoft.com/office/drawing/2014/main" id="{91210F35-53CD-D700-5DC0-DD9FAE6FF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534A4EF-354D-EE8A-7D31-D5C4DE77FD5A}"/>
              </a:ext>
            </a:extLst>
          </p:cNvPr>
          <p:cNvSpPr/>
          <p:nvPr/>
        </p:nvSpPr>
        <p:spPr>
          <a:xfrm>
            <a:off x="457200" y="29260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31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Example: Turning Business Language into Math</a:t>
            </a:r>
            <a:endParaRPr lang="en-US" sz="2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EEA28BF-E377-DB8F-DF64-AB419E0D065D}"/>
              </a:ext>
            </a:extLst>
          </p:cNvPr>
          <p:cNvSpPr/>
          <p:nvPr/>
        </p:nvSpPr>
        <p:spPr>
          <a:xfrm>
            <a:off x="475488" y="80467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factory makes Product A and Product B. The manager wants the most profitable production plan.</a:t>
            </a:r>
            <a:endParaRPr lang="en-US" sz="12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0621DC9-3FE3-D189-ECEF-F4D97FDDA5B5}"/>
              </a:ext>
            </a:extLst>
          </p:cNvPr>
          <p:cNvSpPr/>
          <p:nvPr/>
        </p:nvSpPr>
        <p:spPr>
          <a:xfrm>
            <a:off x="658368" y="13258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BE8EB"/>
          </a:solidFill>
          <a:ln w="1397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95554E-267B-D306-A92B-F4D03551741A}"/>
              </a:ext>
            </a:extLst>
          </p:cNvPr>
          <p:cNvSpPr/>
          <p:nvPr/>
        </p:nvSpPr>
        <p:spPr>
          <a:xfrm>
            <a:off x="8686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8234D57-1BBA-EDB9-FE12-15FB87B6CCB5}"/>
              </a:ext>
            </a:extLst>
          </p:cNvPr>
          <p:cNvSpPr/>
          <p:nvPr/>
        </p:nvSpPr>
        <p:spPr>
          <a:xfrm>
            <a:off x="877824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many units of A and B should we produce?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C4669A4-0720-8186-40FC-C9EE3A5F9999}"/>
              </a:ext>
            </a:extLst>
          </p:cNvPr>
          <p:cNvSpPr/>
          <p:nvPr/>
        </p:nvSpPr>
        <p:spPr>
          <a:xfrm>
            <a:off x="914400" y="3840480"/>
            <a:ext cx="2514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maximize profit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Limits: machine time and demand</a:t>
            </a:r>
            <a:endParaRPr lang="en-US" sz="14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36606A7-1A84-F396-1CBB-17490C6348BE}"/>
              </a:ext>
            </a:extLst>
          </p:cNvPr>
          <p:cNvSpPr/>
          <p:nvPr/>
        </p:nvSpPr>
        <p:spPr>
          <a:xfrm>
            <a:off x="3886200" y="3520440"/>
            <a:ext cx="685800" cy="0"/>
          </a:xfrm>
          <a:prstGeom prst="line">
            <a:avLst/>
          </a:prstGeom>
          <a:noFill/>
          <a:ln w="27940">
            <a:solidFill>
              <a:srgbClr val="E31B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210A42B-A6B4-A681-12F5-1B5F1F517FB2}"/>
              </a:ext>
            </a:extLst>
          </p:cNvPr>
          <p:cNvSpPr/>
          <p:nvPr/>
        </p:nvSpPr>
        <p:spPr>
          <a:xfrm>
            <a:off x="4736592" y="1325880"/>
            <a:ext cx="6629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0A1032-42CE-2DE6-CDDC-67C7710740E5}"/>
              </a:ext>
            </a:extLst>
          </p:cNvPr>
          <p:cNvSpPr/>
          <p:nvPr/>
        </p:nvSpPr>
        <p:spPr>
          <a:xfrm>
            <a:off x="5010912" y="15727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Model</a:t>
            </a:r>
            <a:endParaRPr lang="en-US" sz="17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7503981-16A2-93CF-D80E-16B1E96CD869}"/>
              </a:ext>
            </a:extLst>
          </p:cNvPr>
          <p:cNvSpPr/>
          <p:nvPr/>
        </p:nvSpPr>
        <p:spPr>
          <a:xfrm>
            <a:off x="5074920" y="2084832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x = units of Product A,   y = units of Product B</a:t>
            </a:r>
            <a:endParaRPr lang="en-US" sz="15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7633FA6-D330-78EF-2A41-31ACD8A0DAB1}"/>
              </a:ext>
            </a:extLst>
          </p:cNvPr>
          <p:cNvSpPr/>
          <p:nvPr/>
        </p:nvSpPr>
        <p:spPr>
          <a:xfrm>
            <a:off x="5349240" y="269748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7093717-191A-CE5D-6F71-ABAA7B482653}"/>
              </a:ext>
            </a:extLst>
          </p:cNvPr>
          <p:cNvSpPr/>
          <p:nvPr/>
        </p:nvSpPr>
        <p:spPr>
          <a:xfrm>
            <a:off x="5440680" y="286207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B2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Maximize Profit = 40x + 30y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DE7DB9D-957B-80FF-4237-F6B4E6B01EEA}"/>
              </a:ext>
            </a:extLst>
          </p:cNvPr>
          <p:cNvSpPr/>
          <p:nvPr/>
        </p:nvSpPr>
        <p:spPr>
          <a:xfrm>
            <a:off x="5230368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to:</a:t>
            </a:r>
            <a:endParaRPr lang="en-US" sz="15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3127E18-27F7-5FC6-8E07-8141456ABF21}"/>
              </a:ext>
            </a:extLst>
          </p:cNvPr>
          <p:cNvSpPr/>
          <p:nvPr/>
        </p:nvSpPr>
        <p:spPr>
          <a:xfrm>
            <a:off x="5623560" y="4078224"/>
            <a:ext cx="50749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2x + y ≤ 100   Machine time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y ≤ 80     Demand limit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y ≥ 0       No negative production</a:t>
            </a:r>
            <a:endParaRPr lang="en-US" sz="17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B8FA18D-1801-3D9D-C237-ABAE220F31AF}"/>
              </a:ext>
            </a:extLst>
          </p:cNvPr>
          <p:cNvSpPr/>
          <p:nvPr/>
        </p:nvSpPr>
        <p:spPr>
          <a:xfrm>
            <a:off x="2148840" y="5989320"/>
            <a:ext cx="7909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35BC494-D8CF-B92E-450D-18C73075DB26}"/>
              </a:ext>
            </a:extLst>
          </p:cNvPr>
          <p:cNvSpPr/>
          <p:nvPr/>
        </p:nvSpPr>
        <p:spPr>
          <a:xfrm>
            <a:off x="2267712" y="60899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will find the best mix of A and B that satisfies all limits.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795969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5-Step Formulation Method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Use this every time you convert a business problem into mathematics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4360" y="1143000"/>
            <a:ext cx="1969618" cy="841248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9224" y="1252728"/>
            <a:ext cx="185989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1. Decision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65146" y="1143000"/>
            <a:ext cx="1969618" cy="841248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820010" y="1252728"/>
            <a:ext cx="185989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2. Objective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35931" y="1143000"/>
            <a:ext cx="1969618" cy="841248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90795" y="1252728"/>
            <a:ext cx="185989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3. Constraints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06717" y="1143000"/>
            <a:ext cx="1969618" cy="841248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61581" y="1252728"/>
            <a:ext cx="185989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4. Bounds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277502" y="1143000"/>
            <a:ext cx="1969618" cy="841248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332366" y="1252728"/>
            <a:ext cx="185989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5. Solve &amp; interpret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" y="2468880"/>
            <a:ext cx="55778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</a:rPr>
              <a:t>1. Identify the exact decision to be made: what can the manager change?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</a:rPr>
              <a:t>2. Write the objective: maximize or minimize what?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</a:rPr>
              <a:t>3. List all real restrictions: budget, resources, time, capacity, rules.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</a:rPr>
              <a:t>4. Add non-negativity and practical limits: x ≥ 0, units must be realistic.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</a:rPr>
              <a:t>5. Solve, then translate the mathematical answer back into business action.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905549" y="3040380"/>
            <a:ext cx="4069080" cy="114300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Golden rule: A vague business question produces a vague model. A clear model starts with clear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3A828-A8D6-0243-6B32-14DE77E0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03F424C2-9A98-1F9C-5C71-FA7A9CD19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B1D28E4-32E5-37A4-EA9A-B57C7121EA34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Objective Functions: What Does “Best” Mean?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42BC122-543B-540E-98F5-1EB42774B7B4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Best is not universal; it depends on the metric chosen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EA0860-F388-3A03-DB7B-304D3BDDEABB}"/>
              </a:ext>
            </a:extLst>
          </p:cNvPr>
          <p:cNvSpPr/>
          <p:nvPr/>
        </p:nvSpPr>
        <p:spPr>
          <a:xfrm>
            <a:off x="685800" y="1234440"/>
            <a:ext cx="498348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revenue minus cost.</a:t>
            </a:r>
          </a:p>
          <a:p>
            <a:pPr marL="152400" indent="-152400">
              <a:buSzPct val="100000"/>
              <a:buChar char="•"/>
            </a:pP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cost while meeting service requirements.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volatility, default risk, delays or failures.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error, maximize F1-score, improve prediction quality.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Multi-objective trade-off: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more than one goal, such as profit and fairness.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154950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9B2C-99B4-1739-2461-624E8DE0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0A167312-28CD-B935-7A5E-5C0AD4C32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BF947E6-0FDA-D130-EE8F-45924C3BD55F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Objective Functions: What Does “Best” Mean?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B72538-1B6C-CC86-0374-FF7AA1C84C18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Best is not universal; it depends on the metric chosen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568CAAC-5837-4E71-A61D-B9DE656ECF80}"/>
              </a:ext>
            </a:extLst>
          </p:cNvPr>
          <p:cNvSpPr/>
          <p:nvPr/>
        </p:nvSpPr>
        <p:spPr>
          <a:xfrm>
            <a:off x="685800" y="1234440"/>
            <a:ext cx="498348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revenue minus cost.</a:t>
            </a:r>
          </a:p>
          <a:p>
            <a:pPr marL="152400" indent="-152400">
              <a:buSzPct val="100000"/>
              <a:buChar char="•"/>
            </a:pP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cost while meeting service requirements.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volatility, default risk, delays or failures.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error, maximize F1-score, improve prediction quality.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Multi-objective trade-off: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more than one goal, such as profit and fairness.</a:t>
            </a:r>
            <a:endParaRPr lang="en-US" sz="16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111686-B84D-4BA7-9C7D-1093758AEA4F}"/>
              </a:ext>
            </a:extLst>
          </p:cNvPr>
          <p:cNvSpPr/>
          <p:nvPr/>
        </p:nvSpPr>
        <p:spPr>
          <a:xfrm>
            <a:off x="685800" y="4800600"/>
            <a:ext cx="5257800" cy="1051560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Maximize:  Profit = Revenue − 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Minimize:   Total Cost = Fixed Cost + Variable 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Minimize:   Error = Σ(actual − predicted)²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33D0858-856B-41ED-DFA4-DB605FE2683A}"/>
              </a:ext>
            </a:extLst>
          </p:cNvPr>
          <p:cNvSpPr/>
          <p:nvPr/>
        </p:nvSpPr>
        <p:spPr>
          <a:xfrm>
            <a:off x="731520" y="5897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Common objective functions are business KPIs written mathematically.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4747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Objective Functions: What Does “Best” Mean?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Best is not universal; it depends on the metric chosen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85800" y="1234440"/>
            <a:ext cx="498348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revenue minus cost.</a:t>
            </a:r>
          </a:p>
          <a:p>
            <a:pPr marL="152400" indent="-152400">
              <a:buSzPct val="100000"/>
              <a:buChar char="•"/>
            </a:pP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cost while meeting service requirements.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volatility, default risk, delays or failures.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objective: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error, maximize F1-score, improve prediction quality.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endParaRPr lang="en-US" sz="1650" b="1" dirty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65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Multi-objective trade-off: </a:t>
            </a: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more than one goal, such as profit and fairness.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85800" y="4800600"/>
            <a:ext cx="5257800" cy="1051560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Maximize:  Profit = Revenue − 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Minimize:   Total Cost = Fixed Cost + Variable 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Minimize:   Error = Σ(actual − predicted)²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5897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Common objective functions are business KPIs written mathematically.</a:t>
            </a:r>
            <a:endParaRPr lang="en-US" sz="1050" dirty="0"/>
          </a:p>
        </p:txBody>
      </p:sp>
      <p:pic>
        <p:nvPicPr>
          <p:cNvPr id="8" name="Image 1" descr="/mnt/data/cu_opt_assets/linear_vs_nonlin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27205"/>
            <a:ext cx="4617720" cy="28777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4800600"/>
            <a:ext cx="4663440" cy="96012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2124"/>
                </a:solidFill>
              </a:rPr>
              <a:t>Same decision. Different objective. Different answer.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202124"/>
                </a:solidFill>
              </a:rPr>
              <a:t>A profit-maximizing decision may not be the same as a risk-minimizing decision.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Constraints: The Reality Check in Optimization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Constraints make the model useful and realistic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2011680" cy="493776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type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606040" y="1234440"/>
            <a:ext cx="3840480" cy="493776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234440"/>
            <a:ext cx="4800600" cy="493776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28216"/>
            <a:ext cx="2011680" cy="493776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Inequality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06040" y="1728216"/>
            <a:ext cx="3840480" cy="493776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or minimum limit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1728216"/>
            <a:ext cx="4800600" cy="493776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≤ ₹10 lakh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221992"/>
            <a:ext cx="2011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06040" y="2221992"/>
            <a:ext cx="38404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balance required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221992"/>
            <a:ext cx="48006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= Demand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2715768"/>
            <a:ext cx="2011680" cy="493776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06040" y="2715768"/>
            <a:ext cx="3840480" cy="493776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range of decision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2715768"/>
            <a:ext cx="4800600" cy="493776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≤ Discount ≤ 30%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" y="3209544"/>
            <a:ext cx="2011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/ binary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06040" y="3209544"/>
            <a:ext cx="38404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Whole-number or yes/no decision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46520" y="3209544"/>
            <a:ext cx="48006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warehouse: 0 or 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13232" y="4160520"/>
            <a:ext cx="5166360" cy="960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Feasible solution = any solution that satisfies all constraints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Infeasible problem = no solution satisfies all constraints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8952" y="5166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Constraints define the boundary of what is possible.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55080" y="4096512"/>
            <a:ext cx="4800600" cy="1115568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</a:rPr>
              <a:t>Business insight: Constraints often matter more than the objective. A beautiful model with missing constraints can recommend impossible decisions.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B85F-D22A-DBA0-372A-130C3105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81857954-1491-4FE4-5DF6-BB84971CC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2B160E9-BBAF-0052-A409-9DBB09D409EF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Example 1: Product Mix Formulation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5279068-CBF0-71D5-6F0B-446ACA576893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Convert a small production decision into a linear optimization model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0B6BA6-291A-3518-7B6C-52F56794109A}"/>
              </a:ext>
            </a:extLst>
          </p:cNvPr>
          <p:cNvSpPr/>
          <p:nvPr/>
        </p:nvSpPr>
        <p:spPr>
          <a:xfrm>
            <a:off x="685800" y="1097280"/>
            <a:ext cx="6437376" cy="458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A firm makes Product A and Product B.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3F1495A-7A4E-F51E-AA22-BDC4B3A4330C}"/>
              </a:ext>
            </a:extLst>
          </p:cNvPr>
          <p:cNvSpPr/>
          <p:nvPr/>
        </p:nvSpPr>
        <p:spPr>
          <a:xfrm>
            <a:off x="749808" y="1508760"/>
            <a:ext cx="6839712" cy="3520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per unit: A = ₹40, B = ₹30.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hours: A uses 2 hours, B uses 1 hour; total ≤ 100.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Labour hours: A uses 1 hour, B uses 2 hours; total ≤ 80.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how many units of A and B should be produced?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090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7B77D-926B-4A09-D54A-82213367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E7E5A1D2-021D-BCFD-5A9A-2C845EC3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A3260D-1C49-0E6C-83F6-76AD5FF257BD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Example 1: Product Mix Formulation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6FB70A-5FE4-C15A-4BC5-569A4B375C07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Convert a small production decision into a linear optimization model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5D4C6D-8DBC-9140-8D3A-A38D8EF03B9B}"/>
              </a:ext>
            </a:extLst>
          </p:cNvPr>
          <p:cNvSpPr/>
          <p:nvPr/>
        </p:nvSpPr>
        <p:spPr>
          <a:xfrm>
            <a:off x="685800" y="1097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A firm makes Product A and Product B.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E117FF4-9CD9-12F1-A982-BD0963C8D2E0}"/>
              </a:ext>
            </a:extLst>
          </p:cNvPr>
          <p:cNvSpPr/>
          <p:nvPr/>
        </p:nvSpPr>
        <p:spPr>
          <a:xfrm>
            <a:off x="749808" y="1508760"/>
            <a:ext cx="46634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per unit: A = ₹40, B = ₹30.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hours: A uses 2 hours, B uses 1 hour; total ≤ 100.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Labour hours: A uses 1 hour, B uses 2 hours; total ≤ 80.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how many units of A and B should be produced?</a:t>
            </a:r>
            <a:endParaRPr lang="en-US" sz="15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60D9026-42EA-EE9F-CB27-B88D33CBE22D}"/>
              </a:ext>
            </a:extLst>
          </p:cNvPr>
          <p:cNvSpPr/>
          <p:nvPr/>
        </p:nvSpPr>
        <p:spPr>
          <a:xfrm>
            <a:off x="731520" y="3767328"/>
            <a:ext cx="4617720" cy="1691640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Let x = units of A, y = units of B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Maximize Z = 40x + 30y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Subject to: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2x + y ≤ 100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+ 2y ≤ 80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≥ 0, y ≥ 0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12E1BC6-07F3-ADB1-8392-2F86C099ACE2}"/>
              </a:ext>
            </a:extLst>
          </p:cNvPr>
          <p:cNvSpPr/>
          <p:nvPr/>
        </p:nvSpPr>
        <p:spPr>
          <a:xfrm>
            <a:off x="777240" y="55046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This is a Linear Programming problem.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57739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Example 1: Product Mix Formulation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Convert a small production decision into a linear optimization model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85800" y="1097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A firm makes Product A and Product B.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9808" y="1508760"/>
            <a:ext cx="46634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per unit: A = ₹40, B = ₹30.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hours: A uses 2 hours, B uses 1 hour; total ≤ 100.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Labour hours: A uses 1 hour, B uses 2 hours; total ≤ 80.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how many units of A and B should be produced?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767328"/>
            <a:ext cx="4617720" cy="1691640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Let x = units of A, y = units of B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Maximize Z = 40x + 30y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Subject to: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2x + y ≤ 100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+ 2y ≤ 80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≥ 0, y ≥ 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55046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This is a Linear Programming problem.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7DD578-68B0-2FA3-787B-FCAAB6917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614398"/>
            <a:ext cx="5756517" cy="41646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Example 1: Solving by Corner Points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For a linear objective over a polygon, check the corners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1234440"/>
            <a:ext cx="155448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Corner point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212848" y="1234440"/>
            <a:ext cx="233172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40x + 30y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44568" y="1234440"/>
            <a:ext cx="1234440" cy="576072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1810512"/>
            <a:ext cx="155448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(0, 0)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12848" y="1810512"/>
            <a:ext cx="23317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40(0) + 30(0)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44568" y="1810512"/>
            <a:ext cx="123444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2386584"/>
            <a:ext cx="15544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(50, 0)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12848" y="2386584"/>
            <a:ext cx="23317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40(50) + 30(0)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44568" y="2386584"/>
            <a:ext cx="123444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" y="2962656"/>
            <a:ext cx="155448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(0, 40)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2962656"/>
            <a:ext cx="233172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40(0) + 30(40)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44568" y="2962656"/>
            <a:ext cx="1234440" cy="57607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1,200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" y="3538728"/>
            <a:ext cx="15544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(40, 20)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212848" y="3538728"/>
            <a:ext cx="23317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40(40) + 30(20)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44568" y="3538728"/>
            <a:ext cx="123444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2,200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4434840"/>
            <a:ext cx="4800600" cy="86868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Optimal solution: x = 40 units of A and y = 20 units of B.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Maximum profit = ₹2,200.</a:t>
            </a:r>
            <a:endParaRPr lang="en-US" sz="1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CAE6E4-BE09-3AAB-9CDD-71A0F2AC7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498001"/>
            <a:ext cx="5760721" cy="41676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4C2FD-536C-25ED-7198-2072C606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6.png">
            <a:extLst>
              <a:ext uri="{FF2B5EF4-FFF2-40B4-BE49-F238E27FC236}">
                <a16:creationId xmlns:a16="http://schemas.microsoft.com/office/drawing/2014/main" id="{0861BF10-F10F-1F24-0412-6DE9DFAE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3418D2-6881-673A-11C4-69453727B18F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Poll 1: Check Your Concept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E978C5-FEA8-5439-3EE1-EBE53754EF60}"/>
              </a:ext>
            </a:extLst>
          </p:cNvPr>
          <p:cNvSpPr/>
          <p:nvPr/>
        </p:nvSpPr>
        <p:spPr>
          <a:xfrm>
            <a:off x="658368" y="1143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Which component of an optimization model represents the quantity we can control?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481D3C-8755-F899-B8A0-91EA7AB67F49}"/>
              </a:ext>
            </a:extLst>
          </p:cNvPr>
          <p:cNvSpPr/>
          <p:nvPr/>
        </p:nvSpPr>
        <p:spPr>
          <a:xfrm>
            <a:off x="822960" y="1828800"/>
            <a:ext cx="4389120" cy="4114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0B05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A. Objective function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D34435B-D302-F361-0288-D7606C3D7BEF}"/>
              </a:ext>
            </a:extLst>
          </p:cNvPr>
          <p:cNvSpPr/>
          <p:nvPr/>
        </p:nvSpPr>
        <p:spPr>
          <a:xfrm>
            <a:off x="822960" y="2395728"/>
            <a:ext cx="4389120" cy="4114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0B05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B. Decision variable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980CF1-D6CA-AB9A-421E-B188F6801C44}"/>
              </a:ext>
            </a:extLst>
          </p:cNvPr>
          <p:cNvSpPr/>
          <p:nvPr/>
        </p:nvSpPr>
        <p:spPr>
          <a:xfrm>
            <a:off x="822960" y="2962656"/>
            <a:ext cx="4389120" cy="4114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0B05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C. Constraint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F672F99-CD87-8895-9329-1DEFB911BEEC}"/>
              </a:ext>
            </a:extLst>
          </p:cNvPr>
          <p:cNvSpPr/>
          <p:nvPr/>
        </p:nvSpPr>
        <p:spPr>
          <a:xfrm>
            <a:off x="822960" y="3529584"/>
            <a:ext cx="4389120" cy="4114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0B05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D. Feasible region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32340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Poll 1: Check Your Concept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58368" y="1143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Which component of an optimization model represents the quantity we can control?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4389120" cy="41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A. Objective function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95728"/>
            <a:ext cx="4389120" cy="41148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B. Decision variable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62656"/>
            <a:ext cx="4389120" cy="41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C. Constraint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529584"/>
            <a:ext cx="4389120" cy="41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D. Feasible region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26480" y="1828800"/>
            <a:ext cx="4480560" cy="128016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Answer: B — Decision variable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Explanation: It is the input we choose or control, such as price, units produced, budget allocation or staff count.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2959-9A77-DC59-0114-68B2323E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2241A76C-950A-4769-4910-4BC2429B3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1F9CB47-BE7F-0026-4F75-91CCB0F4D118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Functions vs Constraints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3A62BB-0AF0-0A96-B7C7-17E4837BC6A8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The objective is what you improve; constraints are what you obey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4EE7B93-8EF9-935C-4DA9-2204E94E1531}"/>
              </a:ext>
            </a:extLst>
          </p:cNvPr>
          <p:cNvSpPr/>
          <p:nvPr/>
        </p:nvSpPr>
        <p:spPr>
          <a:xfrm>
            <a:off x="685800" y="1234440"/>
            <a:ext cx="182880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CBA35E1-4274-1DB5-2F4E-8398B0867B57}"/>
              </a:ext>
            </a:extLst>
          </p:cNvPr>
          <p:cNvSpPr/>
          <p:nvPr/>
        </p:nvSpPr>
        <p:spPr>
          <a:xfrm>
            <a:off x="2514600" y="1234440"/>
            <a:ext cx="438912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Function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ED8E7EF-C721-F801-4CED-F1D514175869}"/>
              </a:ext>
            </a:extLst>
          </p:cNvPr>
          <p:cNvSpPr/>
          <p:nvPr/>
        </p:nvSpPr>
        <p:spPr>
          <a:xfrm>
            <a:off x="6903720" y="1234440"/>
            <a:ext cx="443484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7466A59-4CA7-BF6D-0D08-F857AF5C3DAA}"/>
              </a:ext>
            </a:extLst>
          </p:cNvPr>
          <p:cNvSpPr/>
          <p:nvPr/>
        </p:nvSpPr>
        <p:spPr>
          <a:xfrm>
            <a:off x="685800" y="1801368"/>
            <a:ext cx="182880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6664447-7E3B-B853-B99B-FE6E6924D5B6}"/>
              </a:ext>
            </a:extLst>
          </p:cNvPr>
          <p:cNvSpPr/>
          <p:nvPr/>
        </p:nvSpPr>
        <p:spPr>
          <a:xfrm>
            <a:off x="2514600" y="1801368"/>
            <a:ext cx="438912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the goal to maximize/minimize</a:t>
            </a: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CF0AC08-FC35-61EF-B3A4-B08DF714D18E}"/>
              </a:ext>
            </a:extLst>
          </p:cNvPr>
          <p:cNvSpPr/>
          <p:nvPr/>
        </p:nvSpPr>
        <p:spPr>
          <a:xfrm>
            <a:off x="6903720" y="1801368"/>
            <a:ext cx="443484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limits or rules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D7111A5-FBC8-283A-1FDD-105500E9BD26}"/>
              </a:ext>
            </a:extLst>
          </p:cNvPr>
          <p:cNvSpPr/>
          <p:nvPr/>
        </p:nvSpPr>
        <p:spPr>
          <a:xfrm>
            <a:off x="685800" y="2368296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18D47FE-7578-053A-3CEA-80BA38ED4426}"/>
              </a:ext>
            </a:extLst>
          </p:cNvPr>
          <p:cNvSpPr/>
          <p:nvPr/>
        </p:nvSpPr>
        <p:spPr>
          <a:xfrm>
            <a:off x="2514600" y="2368296"/>
            <a:ext cx="4389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means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583EFD8-B94B-201A-9D5A-4C173CEB1BB5}"/>
              </a:ext>
            </a:extLst>
          </p:cNvPr>
          <p:cNvSpPr/>
          <p:nvPr/>
        </p:nvSpPr>
        <p:spPr>
          <a:xfrm>
            <a:off x="6903720" y="2368296"/>
            <a:ext cx="4434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possible or allowed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28B7914-26C3-7D8B-9DAE-179C5D9E695B}"/>
              </a:ext>
            </a:extLst>
          </p:cNvPr>
          <p:cNvSpPr/>
          <p:nvPr/>
        </p:nvSpPr>
        <p:spPr>
          <a:xfrm>
            <a:off x="685800" y="2935224"/>
            <a:ext cx="182880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A868C41-36D4-10FE-61A1-67228787F074}"/>
              </a:ext>
            </a:extLst>
          </p:cNvPr>
          <p:cNvSpPr/>
          <p:nvPr/>
        </p:nvSpPr>
        <p:spPr>
          <a:xfrm>
            <a:off x="2514600" y="2935224"/>
            <a:ext cx="438912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profit = 40x + 30y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F279B64-224E-AAC3-5284-B3F67C3D43F1}"/>
              </a:ext>
            </a:extLst>
          </p:cNvPr>
          <p:cNvSpPr/>
          <p:nvPr/>
        </p:nvSpPr>
        <p:spPr>
          <a:xfrm>
            <a:off x="6903720" y="2935224"/>
            <a:ext cx="443484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2x + y ≤ 100 machine hours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6E8E6F0-5AF7-AA7B-9017-74B93F439E9A}"/>
              </a:ext>
            </a:extLst>
          </p:cNvPr>
          <p:cNvSpPr/>
          <p:nvPr/>
        </p:nvSpPr>
        <p:spPr>
          <a:xfrm>
            <a:off x="685800" y="3502152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multiple?</a:t>
            </a: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A1F976C-C070-AABE-91A6-33101EE55A8C}"/>
              </a:ext>
            </a:extLst>
          </p:cNvPr>
          <p:cNvSpPr/>
          <p:nvPr/>
        </p:nvSpPr>
        <p:spPr>
          <a:xfrm>
            <a:off x="2514600" y="3502152"/>
            <a:ext cx="4389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but often combined or prioritized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CE492DC-6ED8-B3C8-FFF6-84C23F85D9D3}"/>
              </a:ext>
            </a:extLst>
          </p:cNvPr>
          <p:cNvSpPr/>
          <p:nvPr/>
        </p:nvSpPr>
        <p:spPr>
          <a:xfrm>
            <a:off x="6903720" y="3502152"/>
            <a:ext cx="4434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many constraints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16697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Functions vs Constraints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The objective is what you improve; constraints are what you obey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85800" y="1234440"/>
            <a:ext cx="182880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14600" y="1234440"/>
            <a:ext cx="438912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Function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234440"/>
            <a:ext cx="443484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801368"/>
            <a:ext cx="182880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4600" y="1801368"/>
            <a:ext cx="438912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the goal to maximize/minimize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03720" y="1801368"/>
            <a:ext cx="443484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limits or rules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368296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2368296"/>
            <a:ext cx="4389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means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03720" y="2368296"/>
            <a:ext cx="4434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possible or allowed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2935224"/>
            <a:ext cx="182880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2935224"/>
            <a:ext cx="438912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profit = 40x + 30y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2935224"/>
            <a:ext cx="443484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2x + y ≤ 100 machine hours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3502152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multiple?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14600" y="3502152"/>
            <a:ext cx="4389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but often combined or prioritized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3502152"/>
            <a:ext cx="4434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many constraints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4709160"/>
            <a:ext cx="10195560" cy="59436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Quick test: In “maximize sales under ₹10 lakh budget,” ??? is the objective; ??? is the constraint.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520D-E7DA-9646-CC76-9B79AF62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92B4DDE6-9479-CDB1-2411-C2DE32165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AFA6F8-BA31-A81C-C59D-5C90E88C9ED3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Functions vs Constraints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3B6BE6F-B341-C644-E39C-B260D3BCAC9B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The objective is what you improve; constraints are what you obey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2344B1B-CB7C-F5E7-32C4-47A7821BB328}"/>
              </a:ext>
            </a:extLst>
          </p:cNvPr>
          <p:cNvSpPr/>
          <p:nvPr/>
        </p:nvSpPr>
        <p:spPr>
          <a:xfrm>
            <a:off x="685800" y="1234440"/>
            <a:ext cx="182880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A2B3B92-7CB6-5854-B52B-F34A9BD483D9}"/>
              </a:ext>
            </a:extLst>
          </p:cNvPr>
          <p:cNvSpPr/>
          <p:nvPr/>
        </p:nvSpPr>
        <p:spPr>
          <a:xfrm>
            <a:off x="2514600" y="1234440"/>
            <a:ext cx="438912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Function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B281D5-42B2-4ABF-33C1-3157E0960A4F}"/>
              </a:ext>
            </a:extLst>
          </p:cNvPr>
          <p:cNvSpPr/>
          <p:nvPr/>
        </p:nvSpPr>
        <p:spPr>
          <a:xfrm>
            <a:off x="6903720" y="1234440"/>
            <a:ext cx="4434840" cy="566928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24D625E-176D-0982-ED25-3EA8B1F3D9D6}"/>
              </a:ext>
            </a:extLst>
          </p:cNvPr>
          <p:cNvSpPr/>
          <p:nvPr/>
        </p:nvSpPr>
        <p:spPr>
          <a:xfrm>
            <a:off x="685800" y="1801368"/>
            <a:ext cx="182880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51E4B09-2D32-848D-6D0B-24230A70311D}"/>
              </a:ext>
            </a:extLst>
          </p:cNvPr>
          <p:cNvSpPr/>
          <p:nvPr/>
        </p:nvSpPr>
        <p:spPr>
          <a:xfrm>
            <a:off x="2514600" y="1801368"/>
            <a:ext cx="438912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the goal to maximize/minimize</a:t>
            </a: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7602750-5432-5785-BFE1-E13731D4F99E}"/>
              </a:ext>
            </a:extLst>
          </p:cNvPr>
          <p:cNvSpPr/>
          <p:nvPr/>
        </p:nvSpPr>
        <p:spPr>
          <a:xfrm>
            <a:off x="6903720" y="1801368"/>
            <a:ext cx="443484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limits or rules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B8CAE0-5F69-5FC6-F831-EE9E392076AC}"/>
              </a:ext>
            </a:extLst>
          </p:cNvPr>
          <p:cNvSpPr/>
          <p:nvPr/>
        </p:nvSpPr>
        <p:spPr>
          <a:xfrm>
            <a:off x="685800" y="2368296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08E86FF-01C3-211C-82C9-3F12D2F22635}"/>
              </a:ext>
            </a:extLst>
          </p:cNvPr>
          <p:cNvSpPr/>
          <p:nvPr/>
        </p:nvSpPr>
        <p:spPr>
          <a:xfrm>
            <a:off x="2514600" y="2368296"/>
            <a:ext cx="4389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means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57A95AB-EC07-7C25-FC6B-4BEAAF05B3C8}"/>
              </a:ext>
            </a:extLst>
          </p:cNvPr>
          <p:cNvSpPr/>
          <p:nvPr/>
        </p:nvSpPr>
        <p:spPr>
          <a:xfrm>
            <a:off x="6903720" y="2368296"/>
            <a:ext cx="4434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possible or allowed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7B47B6D-F46D-0688-4A55-E5C25D42EBFE}"/>
              </a:ext>
            </a:extLst>
          </p:cNvPr>
          <p:cNvSpPr/>
          <p:nvPr/>
        </p:nvSpPr>
        <p:spPr>
          <a:xfrm>
            <a:off x="685800" y="2935224"/>
            <a:ext cx="182880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ED7EEBF-F8FC-FFF2-84C2-A4E091E83AD1}"/>
              </a:ext>
            </a:extLst>
          </p:cNvPr>
          <p:cNvSpPr/>
          <p:nvPr/>
        </p:nvSpPr>
        <p:spPr>
          <a:xfrm>
            <a:off x="2514600" y="2935224"/>
            <a:ext cx="438912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profit = 40x + 30y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DD6C398-3113-F272-1C80-2EABD1ED8811}"/>
              </a:ext>
            </a:extLst>
          </p:cNvPr>
          <p:cNvSpPr/>
          <p:nvPr/>
        </p:nvSpPr>
        <p:spPr>
          <a:xfrm>
            <a:off x="6903720" y="2935224"/>
            <a:ext cx="4434840" cy="56692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2x + y ≤ 100 machine hours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9934E86-E56B-E38F-2320-A71801E73724}"/>
              </a:ext>
            </a:extLst>
          </p:cNvPr>
          <p:cNvSpPr/>
          <p:nvPr/>
        </p:nvSpPr>
        <p:spPr>
          <a:xfrm>
            <a:off x="685800" y="3502152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multiple?</a:t>
            </a: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26ACD7E-3422-03A5-C2B5-A86688A33055}"/>
              </a:ext>
            </a:extLst>
          </p:cNvPr>
          <p:cNvSpPr/>
          <p:nvPr/>
        </p:nvSpPr>
        <p:spPr>
          <a:xfrm>
            <a:off x="2514600" y="3502152"/>
            <a:ext cx="4389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but often combined or prioritized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806FBBE-88EC-4578-EBF5-38C00E3EA55E}"/>
              </a:ext>
            </a:extLst>
          </p:cNvPr>
          <p:cNvSpPr/>
          <p:nvPr/>
        </p:nvSpPr>
        <p:spPr>
          <a:xfrm>
            <a:off x="6903720" y="3502152"/>
            <a:ext cx="4434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many constraints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18A49E9-7818-0B6F-6CF5-582466BEB0B1}"/>
              </a:ext>
            </a:extLst>
          </p:cNvPr>
          <p:cNvSpPr/>
          <p:nvPr/>
        </p:nvSpPr>
        <p:spPr>
          <a:xfrm>
            <a:off x="777240" y="4709160"/>
            <a:ext cx="10195560" cy="59436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Quick test: In “maximize sales under ₹10 lakh budget,” sales is the objective; ₹10 lakh is the constraint.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17974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Optimization versus Constraint Satisfaction Problems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</a:rPr>
              <a:t>Both care about constraints; only optimization ranks feasible solutions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808" y="1097280"/>
            <a:ext cx="5065776" cy="841248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207008"/>
            <a:ext cx="495604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Constraint Satisfaction: Find any feasible answer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16752" y="1097280"/>
            <a:ext cx="5065776" cy="841248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71616" y="1207008"/>
            <a:ext cx="495604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Optimization: Find the best feasible answer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240280"/>
            <a:ext cx="1828800" cy="557784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type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2514600" y="2240280"/>
            <a:ext cx="4297680" cy="557784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Satisfaction Problem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6812280" y="2240280"/>
            <a:ext cx="4526280" cy="557784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Problem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685800" y="2798064"/>
            <a:ext cx="182880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2514600" y="2798064"/>
            <a:ext cx="42976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“Is there a solution?”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812280" y="2798064"/>
            <a:ext cx="45262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solution is best?”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685800" y="3355848"/>
            <a:ext cx="182880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function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2514600" y="3355848"/>
            <a:ext cx="4297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required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6812280" y="3355848"/>
            <a:ext cx="45262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685800" y="3913632"/>
            <a:ext cx="182880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2514600" y="3913632"/>
            <a:ext cx="42976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feasible solution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6812280" y="3913632"/>
            <a:ext cx="45262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feasible solution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685800" y="4471416"/>
            <a:ext cx="182880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2514600" y="4471416"/>
            <a:ext cx="4297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create a timetable without clashes?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6812280" y="4471416"/>
            <a:ext cx="45262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create the lowest-cost timetable without clashes?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2C4DE-3F13-42A7-8211-8DB0F5B6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FFE0CC35-B2C2-5AE6-B043-2D5FE9820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25D384D-5346-509D-30F8-A87DAC39767B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Optimization versus Constraint Satisfaction Problems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E3AAA2B-BA3A-01D0-1890-2F4A27B0F9F4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Both care about constraints; only optimization ranks feasible solutions</a:t>
            </a:r>
            <a:endParaRPr lang="en-US" sz="11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01AB72E-0AB7-19DB-4464-FA1C89A4A703}"/>
              </a:ext>
            </a:extLst>
          </p:cNvPr>
          <p:cNvSpPr/>
          <p:nvPr/>
        </p:nvSpPr>
        <p:spPr>
          <a:xfrm>
            <a:off x="749808" y="1097280"/>
            <a:ext cx="5065776" cy="841248"/>
          </a:xfrm>
          <a:prstGeom prst="chevron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5A2CE1C-428F-3129-4919-36517C66CCF4}"/>
              </a:ext>
            </a:extLst>
          </p:cNvPr>
          <p:cNvSpPr/>
          <p:nvPr/>
        </p:nvSpPr>
        <p:spPr>
          <a:xfrm>
            <a:off x="804672" y="1207008"/>
            <a:ext cx="495604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Constraint Satisfaction: Find any feasible answer</a:t>
            </a:r>
            <a:endParaRPr lang="en-US" sz="12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85033D1-0F74-FAD2-8A85-819E503A1202}"/>
              </a:ext>
            </a:extLst>
          </p:cNvPr>
          <p:cNvSpPr/>
          <p:nvPr/>
        </p:nvSpPr>
        <p:spPr>
          <a:xfrm>
            <a:off x="6016752" y="1097280"/>
            <a:ext cx="5065776" cy="841248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2F1E004-4EA4-5FB8-9834-32AA881E57B5}"/>
              </a:ext>
            </a:extLst>
          </p:cNvPr>
          <p:cNvSpPr/>
          <p:nvPr/>
        </p:nvSpPr>
        <p:spPr>
          <a:xfrm>
            <a:off x="6071616" y="1207008"/>
            <a:ext cx="495604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Optimization: Find the best feasible answer</a:t>
            </a: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4FDE9CD-E6B5-3D61-C3F0-AB466310EB98}"/>
              </a:ext>
            </a:extLst>
          </p:cNvPr>
          <p:cNvSpPr/>
          <p:nvPr/>
        </p:nvSpPr>
        <p:spPr>
          <a:xfrm>
            <a:off x="685800" y="2240280"/>
            <a:ext cx="1828800" cy="557784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type</a:t>
            </a:r>
            <a:endParaRPr lang="en-US" sz="128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BB101C2-D8E7-8C85-0EE7-32E05426989D}"/>
              </a:ext>
            </a:extLst>
          </p:cNvPr>
          <p:cNvSpPr/>
          <p:nvPr/>
        </p:nvSpPr>
        <p:spPr>
          <a:xfrm>
            <a:off x="2514600" y="2240280"/>
            <a:ext cx="4297680" cy="557784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Satisfaction Problem</a:t>
            </a:r>
            <a:endParaRPr lang="en-US" sz="128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769B0BD-4244-6EF7-9810-3ABA85E3D38A}"/>
              </a:ext>
            </a:extLst>
          </p:cNvPr>
          <p:cNvSpPr/>
          <p:nvPr/>
        </p:nvSpPr>
        <p:spPr>
          <a:xfrm>
            <a:off x="6812280" y="2240280"/>
            <a:ext cx="4526280" cy="557784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Problem</a:t>
            </a:r>
            <a:endParaRPr lang="en-US" sz="128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B2A2B9-048C-0145-949E-F5A37F226447}"/>
              </a:ext>
            </a:extLst>
          </p:cNvPr>
          <p:cNvSpPr/>
          <p:nvPr/>
        </p:nvSpPr>
        <p:spPr>
          <a:xfrm>
            <a:off x="685800" y="2798064"/>
            <a:ext cx="182880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8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4623108-0DCE-F8BE-36EF-CD1B0684121D}"/>
              </a:ext>
            </a:extLst>
          </p:cNvPr>
          <p:cNvSpPr/>
          <p:nvPr/>
        </p:nvSpPr>
        <p:spPr>
          <a:xfrm>
            <a:off x="2514600" y="2798064"/>
            <a:ext cx="42976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“Is there a solution?”</a:t>
            </a:r>
            <a:endParaRPr lang="en-US" sz="128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5CA133F-3786-5662-79E6-1AF6C8914A06}"/>
              </a:ext>
            </a:extLst>
          </p:cNvPr>
          <p:cNvSpPr/>
          <p:nvPr/>
        </p:nvSpPr>
        <p:spPr>
          <a:xfrm>
            <a:off x="6812280" y="2798064"/>
            <a:ext cx="45262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solution is best?”</a:t>
            </a:r>
            <a:endParaRPr lang="en-US" sz="128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6613251-1CEF-DF44-D5AC-25A55AF6E866}"/>
              </a:ext>
            </a:extLst>
          </p:cNvPr>
          <p:cNvSpPr/>
          <p:nvPr/>
        </p:nvSpPr>
        <p:spPr>
          <a:xfrm>
            <a:off x="685800" y="3355848"/>
            <a:ext cx="182880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function</a:t>
            </a:r>
            <a:endParaRPr lang="en-US" sz="128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25AC670-7D2D-BADD-C361-786DD97C9B88}"/>
              </a:ext>
            </a:extLst>
          </p:cNvPr>
          <p:cNvSpPr/>
          <p:nvPr/>
        </p:nvSpPr>
        <p:spPr>
          <a:xfrm>
            <a:off x="2514600" y="3355848"/>
            <a:ext cx="4297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required</a:t>
            </a:r>
            <a:endParaRPr lang="en-US" sz="128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3F89AE7-7F98-582E-6BF0-D42A4BE9B9DC}"/>
              </a:ext>
            </a:extLst>
          </p:cNvPr>
          <p:cNvSpPr/>
          <p:nvPr/>
        </p:nvSpPr>
        <p:spPr>
          <a:xfrm>
            <a:off x="6812280" y="3355848"/>
            <a:ext cx="45262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128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B5D0CEB-8050-DAE3-E354-AC3C7F44F1C2}"/>
              </a:ext>
            </a:extLst>
          </p:cNvPr>
          <p:cNvSpPr/>
          <p:nvPr/>
        </p:nvSpPr>
        <p:spPr>
          <a:xfrm>
            <a:off x="685800" y="3913632"/>
            <a:ext cx="182880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8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D4B6957-9AD5-6858-8726-FEEBB934F666}"/>
              </a:ext>
            </a:extLst>
          </p:cNvPr>
          <p:cNvSpPr/>
          <p:nvPr/>
        </p:nvSpPr>
        <p:spPr>
          <a:xfrm>
            <a:off x="2514600" y="3913632"/>
            <a:ext cx="42976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feasible solution</a:t>
            </a:r>
            <a:endParaRPr lang="en-US" sz="128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17DD23D-109F-1B4E-3C38-B931403CDE4C}"/>
              </a:ext>
            </a:extLst>
          </p:cNvPr>
          <p:cNvSpPr/>
          <p:nvPr/>
        </p:nvSpPr>
        <p:spPr>
          <a:xfrm>
            <a:off x="6812280" y="3913632"/>
            <a:ext cx="4526280" cy="5577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feasible solution</a:t>
            </a:r>
            <a:endParaRPr lang="en-US" sz="128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A99BD36-B0AB-413B-1397-31AA5ECABCB9}"/>
              </a:ext>
            </a:extLst>
          </p:cNvPr>
          <p:cNvSpPr/>
          <p:nvPr/>
        </p:nvSpPr>
        <p:spPr>
          <a:xfrm>
            <a:off x="685800" y="4471416"/>
            <a:ext cx="182880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28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C6C01BE-4542-5F0A-B418-6C0F17B00840}"/>
              </a:ext>
            </a:extLst>
          </p:cNvPr>
          <p:cNvSpPr/>
          <p:nvPr/>
        </p:nvSpPr>
        <p:spPr>
          <a:xfrm>
            <a:off x="2514600" y="4471416"/>
            <a:ext cx="4297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create a timetable without clashes?</a:t>
            </a:r>
            <a:endParaRPr lang="en-US" sz="128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B8ED2C1-F5CB-5D59-033F-84E1B4358E83}"/>
              </a:ext>
            </a:extLst>
          </p:cNvPr>
          <p:cNvSpPr/>
          <p:nvPr/>
        </p:nvSpPr>
        <p:spPr>
          <a:xfrm>
            <a:off x="6812280" y="4471416"/>
            <a:ext cx="45262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create the lowest-cost timetable without clashes?</a:t>
            </a:r>
            <a:endParaRPr lang="en-US" sz="128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BB820D8-9C2C-8D72-6D84-BEA177294FD4}"/>
              </a:ext>
            </a:extLst>
          </p:cNvPr>
          <p:cNvSpPr/>
          <p:nvPr/>
        </p:nvSpPr>
        <p:spPr>
          <a:xfrm>
            <a:off x="1874520" y="5504688"/>
            <a:ext cx="7818120" cy="457200"/>
          </a:xfrm>
          <a:prstGeom prst="rect">
            <a:avLst/>
          </a:prstGeom>
          <a:solidFill>
            <a:srgbClr val="F7F7F7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CSP = feasibility. Optimization = feasibility + performance ranking.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2122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Linear Optimization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</a:rPr>
              <a:t>When the objective and constraints are straight-line relationships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5532120" cy="1143000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Linear objective:  Z = c₁x₁ + c₂x₂ + … + cₙxₙ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Linear constraint: a₁x₁ + a₂x₂ + … + aₙxₙ ≤ b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</a:rPr>
              <a:t>No powers like x², no products like xy, no ratios like x/y.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164840"/>
            <a:ext cx="53035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relationships are proportional and additive.</a:t>
            </a:r>
          </a:p>
          <a:p>
            <a:pPr marL="152400" indent="-152400">
              <a:buSzPct val="100000"/>
              <a:buChar char="•"/>
            </a:pP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feasible region is typically a polygon.</a:t>
            </a:r>
            <a:endParaRPr lang="en-US" dirty="0"/>
          </a:p>
          <a:p>
            <a:pPr>
              <a:buSzPct val="100000"/>
            </a:pPr>
            <a:endParaRPr lang="en-US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algorithms: graphical method, simplex method, interior-point methods.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437376" y="5349240"/>
            <a:ext cx="4572000" cy="566928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02124"/>
                </a:solidFill>
              </a:rPr>
              <a:t>Good for: production mix, transportation, blending, workforce allocation, portfolio with simplified assumptions.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A04EF3-6AC3-D706-B06F-0ACD11647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98" y="1412150"/>
            <a:ext cx="5204102" cy="376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8CB5-CF4F-267D-9567-359C3C8B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6.png">
            <a:extLst>
              <a:ext uri="{FF2B5EF4-FFF2-40B4-BE49-F238E27FC236}">
                <a16:creationId xmlns:a16="http://schemas.microsoft.com/office/drawing/2014/main" id="{E6F57C22-E04E-F35A-22B9-391E089FC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1056EE3-BE01-4249-3730-5AC0F8735F66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Poll 2: Linear or Nonlinear?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CC73078-37C7-5EE7-8988-FB4F45541174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Identify the model structure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BC2AD2E-39F5-2290-3BFA-2D027B1ADAF8}"/>
              </a:ext>
            </a:extLst>
          </p:cNvPr>
          <p:cNvSpPr/>
          <p:nvPr/>
        </p:nvSpPr>
        <p:spPr>
          <a:xfrm>
            <a:off x="658368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Which expression makes the optimization model nonlinear?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96C5DE1-EA19-1B28-0166-BA231F903069}"/>
              </a:ext>
            </a:extLst>
          </p:cNvPr>
          <p:cNvSpPr/>
          <p:nvPr/>
        </p:nvSpPr>
        <p:spPr>
          <a:xfrm>
            <a:off x="822960" y="1737360"/>
            <a:ext cx="4480560" cy="411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 lIns="1778" tIns="1778" rIns="1778" bIns="177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02124"/>
                </a:solidFill>
              </a:rPr>
              <a:t>A. Z = 5x + 7y</a:t>
            </a:r>
            <a:endParaRPr lang="en-US" sz="2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AEBEC73-CE16-8913-F92B-226711630786}"/>
              </a:ext>
            </a:extLst>
          </p:cNvPr>
          <p:cNvSpPr/>
          <p:nvPr/>
        </p:nvSpPr>
        <p:spPr>
          <a:xfrm>
            <a:off x="822960" y="2304288"/>
            <a:ext cx="4480560" cy="411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 lIns="1778" tIns="1778" rIns="1778" bIns="177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02124"/>
                </a:solidFill>
              </a:rPr>
              <a:t>B. 3x + 2y ≤ 100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C25490-26AA-D72E-5959-C280A8ADAB83}"/>
              </a:ext>
            </a:extLst>
          </p:cNvPr>
          <p:cNvSpPr/>
          <p:nvPr/>
        </p:nvSpPr>
        <p:spPr>
          <a:xfrm>
            <a:off x="822960" y="2871216"/>
            <a:ext cx="4480560" cy="411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 lIns="1778" tIns="1778" rIns="1778" bIns="177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02124"/>
                </a:solidFill>
              </a:rPr>
              <a:t>C. xy ≤ 50</a:t>
            </a:r>
            <a:endParaRPr lang="en-US" sz="2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B75A12-C9C7-8BB9-4EE8-8B3A9C49446C}"/>
              </a:ext>
            </a:extLst>
          </p:cNvPr>
          <p:cNvSpPr/>
          <p:nvPr/>
        </p:nvSpPr>
        <p:spPr>
          <a:xfrm>
            <a:off x="822960" y="3438144"/>
            <a:ext cx="4480560" cy="411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 lIns="1778" tIns="1778" rIns="1778" bIns="177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02124"/>
                </a:solidFill>
              </a:rPr>
              <a:t>D. x ≥ 0, y ≥ 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0246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Poll 2: Linear or Nonlinear?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Identify the model structure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Which expression makes the optimization model nonlinear?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4480560" cy="41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A. Z = 5x + 7y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04288"/>
            <a:ext cx="4480560" cy="41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B. 3x + 2y ≤ 100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71216"/>
            <a:ext cx="4480560" cy="41148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C. xy ≤ 50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438144"/>
            <a:ext cx="4480560" cy="41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D. x ≥ 0, y ≥ 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26480" y="1737360"/>
            <a:ext cx="4526280" cy="123444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Answer: C — xy ≤ 50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Explanation: The product of decision variables creates a curved boundary. That makes the problem nonlinear.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Nonlinear Optimization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When the model contains curves, interactions or diminishing returns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85800" y="1234440"/>
            <a:ext cx="51663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objective: profit may rise first and fall after a price point.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constraints: risk, capacity, service level or physics may be curved.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have local optima: a solution better than nearby points but not necessarily globally best.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Harder to solve, especially with many variables or non-convex landscapes.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85800" y="4572000"/>
            <a:ext cx="5257800" cy="841248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Example:  Minimize f(x) = x² − 6x + 11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Derivative condition: f′(x) = 0 at an interior optimum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4776-2934-4DCC-D5C1-2CE863F5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033E9761-E423-3F5C-8C87-BAA34110E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A6EC5CA-3BE0-940E-FDC5-6261FE467BFA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Nonlinear Optimization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9F0839A-5CA3-53F0-EAF2-24B1F0316252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When the model contains curves, interactions or diminishing returns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E29F309-5728-A0C6-879D-8854016DACEB}"/>
              </a:ext>
            </a:extLst>
          </p:cNvPr>
          <p:cNvSpPr/>
          <p:nvPr/>
        </p:nvSpPr>
        <p:spPr>
          <a:xfrm>
            <a:off x="685800" y="1234440"/>
            <a:ext cx="51663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objective: profit may rise first and fall after a price point.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constraints: risk, capacity, service level or physics may be curved.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have local optima: a solution better than nearby points but not necessarily globally best.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Harder to solve, especially with many variables or non-convex landscapes.</a:t>
            </a:r>
            <a:endParaRPr lang="en-US" sz="16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51E67E-C48D-298D-F2FB-5830789B86D3}"/>
              </a:ext>
            </a:extLst>
          </p:cNvPr>
          <p:cNvSpPr/>
          <p:nvPr/>
        </p:nvSpPr>
        <p:spPr>
          <a:xfrm>
            <a:off x="685800" y="4572000"/>
            <a:ext cx="5257800" cy="841248"/>
          </a:xfrm>
          <a:prstGeom prst="rect">
            <a:avLst/>
          </a:prstGeom>
          <a:solidFill>
            <a:srgbClr val="F7F7F7"/>
          </a:solidFill>
          <a:ln w="1016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Example:  Minimize f(x) = x² − 6x + 11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Derivative condition: f′(x) = 0 at an interior optimum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3DC84D8-074F-920C-5F72-1E44CF0A15F8}"/>
              </a:ext>
            </a:extLst>
          </p:cNvPr>
          <p:cNvSpPr/>
          <p:nvPr/>
        </p:nvSpPr>
        <p:spPr>
          <a:xfrm>
            <a:off x="731520" y="54589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For smooth single-variable functions, derivative helps locate optima.</a:t>
            </a:r>
            <a:endParaRPr lang="en-US" sz="1050" dirty="0"/>
          </a:p>
        </p:txBody>
      </p:sp>
      <p:pic>
        <p:nvPicPr>
          <p:cNvPr id="8" name="Image 1" descr="/mnt/data/cu_opt_assets/nonlinear_curve.png">
            <a:extLst>
              <a:ext uri="{FF2B5EF4-FFF2-40B4-BE49-F238E27FC236}">
                <a16:creationId xmlns:a16="http://schemas.microsoft.com/office/drawing/2014/main" id="{4DA019AC-9C44-66C1-BF9D-5A7CF1DCB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44541"/>
            <a:ext cx="4800600" cy="299167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147725A-17F7-C3E1-0ED1-9F5D9EB3FC38}"/>
              </a:ext>
            </a:extLst>
          </p:cNvPr>
          <p:cNvSpPr/>
          <p:nvPr/>
        </p:nvSpPr>
        <p:spPr>
          <a:xfrm>
            <a:off x="6382512" y="5230368"/>
            <a:ext cx="4663440" cy="658368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2124"/>
                </a:solidFill>
              </a:rPr>
              <a:t>Nonlinear ≠ impossible. It means we need methods that understand curvature and local optima.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224843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Example 2: Single-Variable Nonlinear Optimization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Use derivative to find a minimum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85800" y="1051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</a:rPr>
              <a:t>Problem: Minimize f(x) = x² − 6x + 11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41248" y="1737360"/>
            <a:ext cx="45720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</a:rPr>
              <a:t>1. Differentiate: f′(x) = 2x − 6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</a:rPr>
              <a:t>2. Set derivative to zero: 2x − 6 = 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</a:rPr>
              <a:t>3. Solve: x =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</a:rPr>
              <a:t>4. Evaluate: f(3) = 3² − 6(3) + 11 = 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4663440" cy="804672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Minimum value = 2 at x = 3.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Business interpretation: the best value of the decision variable is 3 units.</a:t>
            </a:r>
            <a:endParaRPr lang="en-US" sz="1700" dirty="0"/>
          </a:p>
        </p:txBody>
      </p:sp>
      <p:pic>
        <p:nvPicPr>
          <p:cNvPr id="8" name="Image 1" descr="/mnt/data/cu_opt_assets/gradient_des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526584"/>
            <a:ext cx="5166360" cy="3219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4768" y="5440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Gradient intuition: keep moving in the direction that improves the objective until the slope becomes zero or no improvement is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vs Nonlinear Optimization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 practical comparison for managers and analysts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4360" y="1097280"/>
            <a:ext cx="2103120" cy="563880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2697480" y="1097280"/>
            <a:ext cx="4251960" cy="563880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Optimization</a:t>
            </a:r>
            <a:endParaRPr lang="en-US" sz="1240" dirty="0"/>
          </a:p>
        </p:txBody>
      </p:sp>
      <p:sp>
        <p:nvSpPr>
          <p:cNvPr id="7" name="Text 4"/>
          <p:cNvSpPr/>
          <p:nvPr/>
        </p:nvSpPr>
        <p:spPr>
          <a:xfrm>
            <a:off x="6949440" y="1097280"/>
            <a:ext cx="4617720" cy="563880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Optimization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594360" y="1661160"/>
            <a:ext cx="21031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2697480" y="1661160"/>
            <a:ext cx="425196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Straight-line, additive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6949440" y="1661160"/>
            <a:ext cx="46177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Curved, interactive, complex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94360" y="2225040"/>
            <a:ext cx="21031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geometry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2697480" y="2225040"/>
            <a:ext cx="425196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polygon/polyhedron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6949440" y="2225040"/>
            <a:ext cx="46177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Curved feasible region or landscape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594360" y="2788920"/>
            <a:ext cx="21031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Difficulty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2697480" y="2788920"/>
            <a:ext cx="425196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easier and scalable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6949440" y="2788920"/>
            <a:ext cx="46177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harder; local optima possible</a:t>
            </a:r>
            <a:endParaRPr lang="en-US" sz="1240" dirty="0"/>
          </a:p>
        </p:txBody>
      </p:sp>
      <p:sp>
        <p:nvSpPr>
          <p:cNvPr id="17" name="Text 14"/>
          <p:cNvSpPr/>
          <p:nvPr/>
        </p:nvSpPr>
        <p:spPr>
          <a:xfrm>
            <a:off x="594360" y="3352800"/>
            <a:ext cx="21031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2697480" y="3352800"/>
            <a:ext cx="425196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Graphical, simplex, interior point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6949440" y="3352800"/>
            <a:ext cx="46177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methods, Newton, heuristics, evolutionary algorithms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594360" y="3916680"/>
            <a:ext cx="21031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2697480" y="3916680"/>
            <a:ext cx="425196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Transportation, blending, product mix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6949440" y="3916680"/>
            <a:ext cx="46177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response, risk optimization, neural network training</a:t>
            </a:r>
            <a:endParaRPr lang="en-US" sz="12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DDAC-D194-489F-3E0C-6F9F6A32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4.png">
            <a:extLst>
              <a:ext uri="{FF2B5EF4-FFF2-40B4-BE49-F238E27FC236}">
                <a16:creationId xmlns:a16="http://schemas.microsoft.com/office/drawing/2014/main" id="{40421BAB-1AE2-E774-D891-A4BCA10BA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2BB2852-0956-46EF-AA84-32FE705FD72F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vs Nonlinear Optimization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FA4A53-57FB-9DA2-7D97-5A80389B3CBC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 practical comparison for managers and analysts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17A393B-DEAF-E1C8-4D13-777C60FE57C8}"/>
              </a:ext>
            </a:extLst>
          </p:cNvPr>
          <p:cNvSpPr/>
          <p:nvPr/>
        </p:nvSpPr>
        <p:spPr>
          <a:xfrm>
            <a:off x="594360" y="1097280"/>
            <a:ext cx="2103120" cy="563880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24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63F4D14-AE90-5C88-35BA-8672ECD89C6B}"/>
              </a:ext>
            </a:extLst>
          </p:cNvPr>
          <p:cNvSpPr/>
          <p:nvPr/>
        </p:nvSpPr>
        <p:spPr>
          <a:xfrm>
            <a:off x="2697480" y="1097280"/>
            <a:ext cx="4251960" cy="563880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Optimization</a:t>
            </a:r>
            <a:endParaRPr lang="en-US" sz="124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EF1A66-2390-39B0-2405-7FA35C8937BB}"/>
              </a:ext>
            </a:extLst>
          </p:cNvPr>
          <p:cNvSpPr/>
          <p:nvPr/>
        </p:nvSpPr>
        <p:spPr>
          <a:xfrm>
            <a:off x="6949440" y="1097280"/>
            <a:ext cx="4617720" cy="563880"/>
          </a:xfrm>
          <a:prstGeom prst="rect">
            <a:avLst/>
          </a:prstGeom>
          <a:solidFill>
            <a:srgbClr val="E31B23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Optimization</a:t>
            </a:r>
            <a:endParaRPr lang="en-US" sz="124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E68BE18-D966-9BDC-CED8-7BD24714DD4D}"/>
              </a:ext>
            </a:extLst>
          </p:cNvPr>
          <p:cNvSpPr/>
          <p:nvPr/>
        </p:nvSpPr>
        <p:spPr>
          <a:xfrm>
            <a:off x="594360" y="1661160"/>
            <a:ext cx="21031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</a:t>
            </a:r>
            <a:endParaRPr lang="en-US" sz="124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31E24E-EA1F-2E74-BF60-CB03DD8F72EA}"/>
              </a:ext>
            </a:extLst>
          </p:cNvPr>
          <p:cNvSpPr/>
          <p:nvPr/>
        </p:nvSpPr>
        <p:spPr>
          <a:xfrm>
            <a:off x="2697480" y="1661160"/>
            <a:ext cx="425196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Straight-line, additive</a:t>
            </a:r>
            <a:endParaRPr lang="en-US" sz="124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61E14D1-32E7-0BBD-5750-A31C949E4903}"/>
              </a:ext>
            </a:extLst>
          </p:cNvPr>
          <p:cNvSpPr/>
          <p:nvPr/>
        </p:nvSpPr>
        <p:spPr>
          <a:xfrm>
            <a:off x="6949440" y="1661160"/>
            <a:ext cx="46177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Curved, interactive, complex</a:t>
            </a:r>
            <a:endParaRPr lang="en-US" sz="124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A43DEE4-7DE2-2D50-D9F4-E13043463B9A}"/>
              </a:ext>
            </a:extLst>
          </p:cNvPr>
          <p:cNvSpPr/>
          <p:nvPr/>
        </p:nvSpPr>
        <p:spPr>
          <a:xfrm>
            <a:off x="594360" y="2225040"/>
            <a:ext cx="21031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geometry</a:t>
            </a:r>
            <a:endParaRPr lang="en-US" sz="124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AE0BCA5-D296-54C8-3BFD-794A3BCD862D}"/>
              </a:ext>
            </a:extLst>
          </p:cNvPr>
          <p:cNvSpPr/>
          <p:nvPr/>
        </p:nvSpPr>
        <p:spPr>
          <a:xfrm>
            <a:off x="2697480" y="2225040"/>
            <a:ext cx="425196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polygon/polyhedron</a:t>
            </a:r>
            <a:endParaRPr lang="en-US" sz="124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2BCEF87-3FAC-59C5-4865-A936C0049F7B}"/>
              </a:ext>
            </a:extLst>
          </p:cNvPr>
          <p:cNvSpPr/>
          <p:nvPr/>
        </p:nvSpPr>
        <p:spPr>
          <a:xfrm>
            <a:off x="6949440" y="2225040"/>
            <a:ext cx="46177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Curved feasible region or landscape</a:t>
            </a:r>
            <a:endParaRPr lang="en-US" sz="124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82E13F1-6F01-0849-E96C-78198CDB4DE2}"/>
              </a:ext>
            </a:extLst>
          </p:cNvPr>
          <p:cNvSpPr/>
          <p:nvPr/>
        </p:nvSpPr>
        <p:spPr>
          <a:xfrm>
            <a:off x="594360" y="2788920"/>
            <a:ext cx="21031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Difficulty</a:t>
            </a:r>
            <a:endParaRPr lang="en-US" sz="124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107DA8-9EB8-75EF-F9BE-D19C883BBB6E}"/>
              </a:ext>
            </a:extLst>
          </p:cNvPr>
          <p:cNvSpPr/>
          <p:nvPr/>
        </p:nvSpPr>
        <p:spPr>
          <a:xfrm>
            <a:off x="2697480" y="2788920"/>
            <a:ext cx="425196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easier and scalable</a:t>
            </a:r>
            <a:endParaRPr lang="en-US" sz="124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3A47607-8C66-161F-3032-F765B8940C17}"/>
              </a:ext>
            </a:extLst>
          </p:cNvPr>
          <p:cNvSpPr/>
          <p:nvPr/>
        </p:nvSpPr>
        <p:spPr>
          <a:xfrm>
            <a:off x="6949440" y="2788920"/>
            <a:ext cx="46177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harder; local optima possible</a:t>
            </a:r>
            <a:endParaRPr lang="en-US" sz="124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7902545-C25B-C4CA-3885-804B55FDC1EB}"/>
              </a:ext>
            </a:extLst>
          </p:cNvPr>
          <p:cNvSpPr/>
          <p:nvPr/>
        </p:nvSpPr>
        <p:spPr>
          <a:xfrm>
            <a:off x="594360" y="3352800"/>
            <a:ext cx="21031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</a:t>
            </a:r>
            <a:endParaRPr lang="en-US" sz="124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1FEA0B2-A211-33BE-FF2C-5DBC7124A876}"/>
              </a:ext>
            </a:extLst>
          </p:cNvPr>
          <p:cNvSpPr/>
          <p:nvPr/>
        </p:nvSpPr>
        <p:spPr>
          <a:xfrm>
            <a:off x="2697480" y="3352800"/>
            <a:ext cx="425196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Graphical, simplex, interior point</a:t>
            </a:r>
            <a:endParaRPr lang="en-US" sz="124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B114385-41F9-1458-1375-8E82A0EE4312}"/>
              </a:ext>
            </a:extLst>
          </p:cNvPr>
          <p:cNvSpPr/>
          <p:nvPr/>
        </p:nvSpPr>
        <p:spPr>
          <a:xfrm>
            <a:off x="6949440" y="3352800"/>
            <a:ext cx="46177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methods, Newton, heuristics, evolutionary algorithms</a:t>
            </a:r>
            <a:endParaRPr lang="en-US" sz="124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B725E24-D379-2E95-04BB-B0285673FD41}"/>
              </a:ext>
            </a:extLst>
          </p:cNvPr>
          <p:cNvSpPr/>
          <p:nvPr/>
        </p:nvSpPr>
        <p:spPr>
          <a:xfrm>
            <a:off x="594360" y="3916680"/>
            <a:ext cx="21031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24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82E3205-350C-53D5-479C-589A576A6F18}"/>
              </a:ext>
            </a:extLst>
          </p:cNvPr>
          <p:cNvSpPr/>
          <p:nvPr/>
        </p:nvSpPr>
        <p:spPr>
          <a:xfrm>
            <a:off x="2697480" y="3916680"/>
            <a:ext cx="425196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Transportation, blending, product mix</a:t>
            </a:r>
            <a:endParaRPr lang="en-US" sz="124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762420C-D089-E0CF-9090-9A45A2E454D8}"/>
              </a:ext>
            </a:extLst>
          </p:cNvPr>
          <p:cNvSpPr/>
          <p:nvPr/>
        </p:nvSpPr>
        <p:spPr>
          <a:xfrm>
            <a:off x="6949440" y="3916680"/>
            <a:ext cx="4617720" cy="56388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response, risk optimization, neural network training</a:t>
            </a:r>
            <a:endParaRPr lang="en-US" sz="1240" dirty="0"/>
          </a:p>
        </p:txBody>
      </p:sp>
      <p:pic>
        <p:nvPicPr>
          <p:cNvPr id="23" name="Image 1" descr="/mnt/data/cu_opt_assets/linear_vs_nonlinear.png">
            <a:extLst>
              <a:ext uri="{FF2B5EF4-FFF2-40B4-BE49-F238E27FC236}">
                <a16:creationId xmlns:a16="http://schemas.microsoft.com/office/drawing/2014/main" id="{E3B0E185-DC35-04A9-C097-A3485AA50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994" y="4645152"/>
            <a:ext cx="2714492" cy="169164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74D218D3-A965-062F-83BF-C116D170D4DE}"/>
              </a:ext>
            </a:extLst>
          </p:cNvPr>
          <p:cNvSpPr/>
          <p:nvPr/>
        </p:nvSpPr>
        <p:spPr>
          <a:xfrm>
            <a:off x="5532120" y="4846320"/>
            <a:ext cx="5394960" cy="960120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Interview-ready answer: Linear optimization assumes proportional/additive relationships. Nonlinear optimization allows curvature and interactions, making it richer but often more challenging.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13066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MCQs: Rapid Fire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Answers are included for classroom discussion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1078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Q1. Which statement is true?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4447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A. Every feasible solution is optimal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B. Every optimal solution is feasible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C. Constraints are optional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D. Objective is same as constraint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743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Q2. A model with x² in the objective is generally: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A. Linear   B. Nonlinear   C. CSP only   D. No constraint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4251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Q3. In linear programming, if a bounded optimum exists, it usually occurs at: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A. Random point   B. Extreme/corner point   C. Infeasible region   D. Only the origin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6160-7E64-9E52-C4E2-CD039C8A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6.png">
            <a:extLst>
              <a:ext uri="{FF2B5EF4-FFF2-40B4-BE49-F238E27FC236}">
                <a16:creationId xmlns:a16="http://schemas.microsoft.com/office/drawing/2014/main" id="{58A4A56D-A6A6-C0FF-091A-6731FD1BB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633D068-9918-5FDA-4FEC-0A828EBE8F48}"/>
              </a:ext>
            </a:extLst>
          </p:cNvPr>
          <p:cNvSpPr/>
          <p:nvPr/>
        </p:nvSpPr>
        <p:spPr>
          <a:xfrm>
            <a:off x="274320" y="25603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MCQs: Rapid Fire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5FCFBB3-4DCC-2C5E-EBBA-F3E5467D0263}"/>
              </a:ext>
            </a:extLst>
          </p:cNvPr>
          <p:cNvSpPr/>
          <p:nvPr/>
        </p:nvSpPr>
        <p:spPr>
          <a:xfrm>
            <a:off x="292608" y="713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Answers are included for classroom discussion</a:t>
            </a:r>
            <a:endParaRPr lang="en-US" sz="1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5C2E6C7-2748-91A8-5214-12029A54E9B9}"/>
              </a:ext>
            </a:extLst>
          </p:cNvPr>
          <p:cNvSpPr/>
          <p:nvPr/>
        </p:nvSpPr>
        <p:spPr>
          <a:xfrm>
            <a:off x="658368" y="1078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Q1. Which statement is true?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E8E74A3-F208-1915-43C3-192905B791B9}"/>
              </a:ext>
            </a:extLst>
          </p:cNvPr>
          <p:cNvSpPr/>
          <p:nvPr/>
        </p:nvSpPr>
        <p:spPr>
          <a:xfrm>
            <a:off x="822960" y="14447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A. Every feasible solution is optimal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B. Every optimal solution is feasible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C. Constraints are optional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D. Objective is same as constraint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11BE778-DC40-AF27-625A-21807D31271F}"/>
              </a:ext>
            </a:extLst>
          </p:cNvPr>
          <p:cNvSpPr/>
          <p:nvPr/>
        </p:nvSpPr>
        <p:spPr>
          <a:xfrm>
            <a:off x="6080760" y="1234440"/>
            <a:ext cx="4480560" cy="566928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</a:rPr>
              <a:t>Answer: B. An optimal solution must satisfy all constraints.</a:t>
            </a:r>
            <a:endParaRPr lang="en-US" sz="14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7B462DB-BD61-72B4-6AC9-B8B627FE8180}"/>
              </a:ext>
            </a:extLst>
          </p:cNvPr>
          <p:cNvSpPr/>
          <p:nvPr/>
        </p:nvSpPr>
        <p:spPr>
          <a:xfrm>
            <a:off x="658368" y="2743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Q2. A model with x² in the objective is generally: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786C009-FDA2-138F-AFED-7BCD305BFCC8}"/>
              </a:ext>
            </a:extLst>
          </p:cNvPr>
          <p:cNvSpPr/>
          <p:nvPr/>
        </p:nvSpPr>
        <p:spPr>
          <a:xfrm>
            <a:off x="822960" y="3108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A. Linear   B. Nonlinear   C. CSP only   D. No constraint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B12DB0C-247B-D8A0-8787-838C2E8AF45D}"/>
              </a:ext>
            </a:extLst>
          </p:cNvPr>
          <p:cNvSpPr/>
          <p:nvPr/>
        </p:nvSpPr>
        <p:spPr>
          <a:xfrm>
            <a:off x="6080760" y="2834640"/>
            <a:ext cx="4480560" cy="512064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</a:rPr>
              <a:t>Answer: B. x² creates curvature.</a:t>
            </a:r>
            <a:endParaRPr lang="en-US" sz="14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9C78986-CE4C-EF86-B9CC-9BF9764085F1}"/>
              </a:ext>
            </a:extLst>
          </p:cNvPr>
          <p:cNvSpPr/>
          <p:nvPr/>
        </p:nvSpPr>
        <p:spPr>
          <a:xfrm>
            <a:off x="658368" y="4251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Q3. In linear programming, if a bounded optimum exists, it usually occurs at: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D307D68-C1F7-0E99-D35D-0C6D281CF984}"/>
              </a:ext>
            </a:extLst>
          </p:cNvPr>
          <p:cNvSpPr/>
          <p:nvPr/>
        </p:nvSpPr>
        <p:spPr>
          <a:xfrm>
            <a:off x="822960" y="4617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A. Random point   B. Extreme/corner point   C. Infeasible region   D. Only the origin</a:t>
            </a:r>
            <a:endParaRPr lang="en-US" sz="13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9762035-E407-E0B3-66CE-2D6D20A6AF62}"/>
              </a:ext>
            </a:extLst>
          </p:cNvPr>
          <p:cNvSpPr/>
          <p:nvPr/>
        </p:nvSpPr>
        <p:spPr>
          <a:xfrm>
            <a:off x="6080760" y="4343400"/>
            <a:ext cx="4480560" cy="694944"/>
          </a:xfrm>
          <a:prstGeom prst="rect">
            <a:avLst/>
          </a:prstGeom>
          <a:solidFill>
            <a:srgbClr val="FFF6F6"/>
          </a:solidFill>
          <a:ln w="15240">
            <a:solidFill>
              <a:srgbClr val="E31B2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</a:rPr>
              <a:t>Answer: B. Linear objective contours touch the feasible polygon at a corner/extreme point.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754499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329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31B23"/>
                </a:solidFill>
              </a:rPr>
              <a:t>Session Summary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8580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In this session, we have discussed: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13232" y="1737360"/>
            <a:ext cx="9639808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as structured decision-making: best choice under limitations.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formulation using decision variables, objective functions and constraints.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region, optimal solution, equality/inequality/bound constraints.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 between constraint satisfaction and optimization problems.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optimization and graphical/corner-point solution logic.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optimization, curvature, derivatives and local/global optima.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applications in pricing, staffing, inventory, logistics and marketing.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opt_assets/bg-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4019</Words>
  <Application>Microsoft Office PowerPoint</Application>
  <PresentationFormat>Widescreen</PresentationFormat>
  <Paragraphs>570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Chandigarh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Optimization - Chandigarh University</dc:title>
  <dc:subject>Numerical Optimization - Evolutionary Algorithms and Numerical Optimization</dc:subject>
  <dc:creator>OpenAI</dc:creator>
  <cp:lastModifiedBy>Vikash Singh</cp:lastModifiedBy>
  <cp:revision>17</cp:revision>
  <dcterms:created xsi:type="dcterms:W3CDTF">2026-08-06T17:13:54Z</dcterms:created>
  <dcterms:modified xsi:type="dcterms:W3CDTF">2026-08-08T18:57:28Z</dcterms:modified>
</cp:coreProperties>
</file>