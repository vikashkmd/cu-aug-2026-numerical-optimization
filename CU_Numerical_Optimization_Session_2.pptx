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6" r:id="rId6"/>
    <p:sldId id="278" r:id="rId7"/>
    <p:sldId id="277" r:id="rId8"/>
    <p:sldId id="279" r:id="rId9"/>
    <p:sldId id="280" r:id="rId10"/>
    <p:sldId id="261" r:id="rId11"/>
    <p:sldId id="262" r:id="rId12"/>
    <p:sldId id="284" r:id="rId13"/>
    <p:sldId id="264" r:id="rId14"/>
    <p:sldId id="285" r:id="rId15"/>
    <p:sldId id="266" r:id="rId16"/>
    <p:sldId id="267" r:id="rId17"/>
    <p:sldId id="268" r:id="rId18"/>
    <p:sldId id="269" r:id="rId19"/>
    <p:sldId id="270" r:id="rId20"/>
    <p:sldId id="287" r:id="rId21"/>
    <p:sldId id="271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81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optimization as a decision-making discipline. The goal is to help students understand how mathematical models find the best decision under business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 that this is not an advanced mathematics lecture. It is a decision-science lecture with formulas only where they clarify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business example: a company has many possible prices, inventory levels, or ad spends; optimization helps select the best option rather than relying only on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with a travel analogy: choosing the best nearby restaurant vs the best restaurant in the city. Local optimum is not necessarily bad; it is just not guaranteed to be the best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9805-8CC1-A41D-8C79-0FC0E52C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B6B71-594F-D8D5-8313-4A2037AA5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9A17B-81B2-21DB-6800-A7AC9565C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2A215-EF5D-619E-91D5-83C1EBA58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26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C9D7-3BD8-4C8C-1255-6F31E63A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5927C-E1D3-3627-74A8-A25D31F55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21125-FA33-3262-23D7-1147AE2A3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B90C7-636E-24D3-4F56-2A3821B14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2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B887-FD8B-56E2-AE57-F9116B3A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FD0D5-9054-4ECD-2FCD-EE58179EC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7BFAB-E183-63BC-989F-CBF56648E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answer before revealing. Reinforce the difference between local and global using “nearby” vs “entire search space.”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D311F-EC35-C36A-B8F4-D90257704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63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answer before revealing. Reinforce the difference between local and global using “nearby” vs “entire search space.”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“bowl” analogy. For MBA students, the key implication is risk: convex problems are predictable; non-convex problems require multiple starts, heuristics, or global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8787-F51B-CC9D-BC59-7A12C66B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B0DD0-6DA5-6CCB-16B9-8819C0E40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95ACD-749F-AA57-A417-9C07AF128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place to connect derivative with slope. The optimum occurs where the slope becomes zero in a convex bowl.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1CFD8-78BB-A507-EFD6-071896EE6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48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place to connect derivative with slope. The optimum occurs where the slope becomes zero in a convex bowl.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A064-D062-2D54-57AF-2A17DCCF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5BAA5-2C35-E75B-3DF3-C7ECC2599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B2F02-AD41-E297-54DB-AFE8E74D1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hill analogy: if your goal is to minimize, the gradient points uphill, so you move in the opposite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8E4C0-EBA8-A9FB-F024-6E2FE8A8D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88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hill analogy: if your goal is to minimize, the gradient points uphill, so you move in the opposite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calculate the next row. Ask them: what will happen if the learning rate is too large? Then discuss overshooting.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later parts of the syllabus: evolutionary algorithms and swarm intelligence are largely derivative-free search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simple grid-search mindset. In real projects, derivative-free algorithms explore intelligently rather than testing every possibility.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prepares students for evolutionary algorithms. Explain that genetic algorithms and PSO are not magic; they are derivative-free search techniques for hard optimization landscapes.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E773-D22B-7C3A-B260-8146CDF8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1BB3B-0018-CA40-BF22-F59962E25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A2365-1A1A-1A90-B144-3645E62F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relate this to business confidence in a solution. Convexity reduces the fear that we have found only a weak local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1F44-731B-811B-D00D-F301BC8AB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65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relate this to business confidence in a solution. Convexity reduces the fear that we have found only a weak local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this session to upcoming evolutionary algorithms. Evolutionary algorithms are powerful search strategies for complex non-convex and derivative-free optimization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students and preview the next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1508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Session Name: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30352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1F1F"/>
                </a:solidFill>
              </a:rPr>
              <a:t>Numerical Optimization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30352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</a:rPr>
              <a:t>Local/Global Optimum • Convexity • Techniques • Gradient vs Derivative-Free Methods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0352" y="3063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Course: Evolutionary Algorithms and Numerical Optimization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0352" y="3337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University: Chandigarh University, India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1005840"/>
            <a:ext cx="1119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5555"/>
                </a:solidFill>
              </a:rPr>
              <a:t>By the end of this session, students should be able to explain and apply the following.</a:t>
            </a:r>
            <a:endParaRPr lang="en-US" sz="2000" b="1" dirty="0"/>
          </a:p>
        </p:txBody>
      </p:sp>
      <p:sp>
        <p:nvSpPr>
          <p:cNvPr id="5" name="Shape 2"/>
          <p:cNvSpPr/>
          <p:nvPr/>
        </p:nvSpPr>
        <p:spPr>
          <a:xfrm>
            <a:off x="609447" y="1691640"/>
            <a:ext cx="109728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016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10708640" cy="3718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Differentiate between local optimum and global optimum using simple graphs.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Explain convex and non-convex optimization in business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Identify common numerical optimization techniques and when they are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Apply gradient-based and derivative-free optimization concepts through solved numerical.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Attempt MCQs and mini exercises related to optimum, convexity and optimization methods.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</a:rPr>
              <a:t>Numerical Optimization | Chandigarh University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Optimization: The Big Picture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</a:rPr>
              <a:t>Optimization converts a business question into a best-decision search.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blurRad="1270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US" sz="4000"/>
          </a:p>
        </p:txBody>
      </p:sp>
      <p:sp>
        <p:nvSpPr>
          <p:cNvPr id="6" name="Shape 3"/>
          <p:cNvSpPr/>
          <p:nvPr/>
        </p:nvSpPr>
        <p:spPr>
          <a:xfrm>
            <a:off x="758952" y="1554480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" y="16184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9576" y="155448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31B23"/>
                </a:solidFill>
              </a:rPr>
              <a:t>Define the decision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8952" y="1947672"/>
            <a:ext cx="227685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What can we control?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Example: price, stock level, ad budget, machine settings.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blurRad="1270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3592" y="1554480"/>
            <a:ext cx="347472" cy="347472"/>
          </a:xfrm>
          <a:prstGeom prst="ellipse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93592" y="16184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14216" y="155448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DB3"/>
                </a:solidFill>
              </a:rPr>
              <a:t>Measure success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93592" y="1947672"/>
            <a:ext cx="227685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Objective function.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Maximize profit or accuracy; minimize cost, time or error.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364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blurRad="1270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28232" y="1554480"/>
            <a:ext cx="347472" cy="34747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28232" y="16184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48856" y="155448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Respect limits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28232" y="1947672"/>
            <a:ext cx="227685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Constraints.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Budget, capacity, service-level, risk, legal or business limits.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09828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blurRad="1270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262872" y="1554480"/>
            <a:ext cx="347472" cy="347472"/>
          </a:xfrm>
          <a:prstGeom prst="ellipse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262872" y="161848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83496" y="155448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38B45"/>
                </a:solidFill>
              </a:rPr>
              <a:t>Search intelligently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262872" y="1947672"/>
            <a:ext cx="227685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Numerical method.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Use an iterative technique when solving directly is difficult.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Local and Global Optimum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</a:rPr>
              <a:t>A local optimum is best nearby; a global optimum is best overall.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703320" cy="4526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3440" y="1323340"/>
            <a:ext cx="31851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Key definitions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1965960"/>
            <a:ext cx="3185160" cy="3648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b="1" dirty="0">
                <a:solidFill>
                  <a:srgbClr val="1F1F1F"/>
                </a:solidFill>
              </a:rPr>
              <a:t>Local minimum/maximum: best within a small neighborhood.
</a:t>
            </a:r>
            <a:endParaRPr lang="en-US" dirty="0"/>
          </a:p>
          <a:p>
            <a:r>
              <a:rPr lang="en-US" b="1" dirty="0">
                <a:solidFill>
                  <a:srgbClr val="1F1F1F"/>
                </a:solidFill>
              </a:rPr>
              <a:t>Global minimum/maximum: best across the entire feasible region.</a:t>
            </a:r>
            <a:r>
              <a:rPr lang="en-US" dirty="0">
                <a:solidFill>
                  <a:srgbClr val="1F1F1F"/>
                </a:solidFill>
              </a:rPr>
              <a:t>
</a:t>
            </a:r>
            <a:endParaRPr lang="en-US" dirty="0"/>
          </a:p>
          <a:p>
            <a:r>
              <a:rPr lang="en-US" dirty="0">
                <a:solidFill>
                  <a:srgbClr val="1F1F1F"/>
                </a:solidFill>
              </a:rPr>
              <a:t>Starting point matters when the surface has many hills and valleys.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617720" y="1234440"/>
            <a:ext cx="685800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2040" y="1536192"/>
            <a:ext cx="630936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5010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</a:rPr>
              <a:t>Local optimum: good nearby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909560" y="5010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8B45"/>
                </a:solidFill>
              </a:rPr>
              <a:t>Global optimum: best overall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920240" y="5925312"/>
            <a:ext cx="8321040" cy="438912"/>
          </a:xfrm>
          <a:prstGeom prst="roundRect">
            <a:avLst>
              <a:gd name="adj" fmla="val 18750"/>
            </a:avLst>
          </a:prstGeom>
          <a:solidFill>
            <a:srgbClr val="FFF8F8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103120" y="6089904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</a:rPr>
              <a:t>“Local is best near me; global is best everywhere.”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080" y="-4572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10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Numerical: Local vs Global Minimum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743960" y="1318768"/>
            <a:ext cx="5643880" cy="1698752"/>
          </a:xfrm>
          <a:prstGeom prst="roundRect">
            <a:avLst>
              <a:gd name="adj" fmla="val 10714"/>
            </a:avLst>
          </a:prstGeom>
          <a:solidFill>
            <a:srgbClr val="FFF5F5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" name="Text 3"/>
          <p:cNvSpPr/>
          <p:nvPr/>
        </p:nvSpPr>
        <p:spPr>
          <a:xfrm>
            <a:off x="4099560" y="1479227"/>
            <a:ext cx="4577080" cy="612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1826"/>
                </a:solidFill>
              </a:rPr>
              <a:t>Objective function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012716" y="2113719"/>
            <a:ext cx="5106368" cy="53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020"/>
                </a:solidFill>
              </a:rPr>
              <a:t>Minimize  f(x) = x⁴ − 6x² + x + 10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823720" y="3383280"/>
            <a:ext cx="3840480" cy="22402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6"/>
          <p:cNvSpPr/>
          <p:nvPr/>
        </p:nvSpPr>
        <p:spPr>
          <a:xfrm>
            <a:off x="2006599" y="3538727"/>
            <a:ext cx="3052689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1826"/>
                </a:solidFill>
              </a:rPr>
              <a:t>Local minimum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994799" y="4201080"/>
            <a:ext cx="3052689" cy="92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02020"/>
                </a:solidFill>
              </a:rPr>
              <a:t>Best point in a nearby region — like a local valley.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533247" y="3442716"/>
            <a:ext cx="3663073" cy="214528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8067039" y="3598164"/>
            <a:ext cx="2632743" cy="46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826"/>
                </a:solidFill>
              </a:rPr>
              <a:t>Global minimum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51621" y="4229369"/>
            <a:ext cx="3159761" cy="114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02020"/>
                </a:solidFill>
              </a:rPr>
              <a:t>Best point across the entire function — the deepest valley.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1BFEE-8748-4BBF-CB18-67AC145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3.jpg">
            <a:extLst>
              <a:ext uri="{FF2B5EF4-FFF2-40B4-BE49-F238E27FC236}">
                <a16:creationId xmlns:a16="http://schemas.microsoft.com/office/drawing/2014/main" id="{CE540B5E-37DF-1D4A-DFC7-A63A7EA4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991C3B7-69A4-C8A4-6B13-9E42BDD6E03B}"/>
              </a:ext>
            </a:extLst>
          </p:cNvPr>
          <p:cNvSpPr/>
          <p:nvPr/>
        </p:nvSpPr>
        <p:spPr>
          <a:xfrm>
            <a:off x="292608" y="310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Numerical: Local vs Global Minimum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7A50E50-564A-9262-4214-9BF68FCD396F}"/>
              </a:ext>
            </a:extLst>
          </p:cNvPr>
          <p:cNvSpPr/>
          <p:nvPr/>
        </p:nvSpPr>
        <p:spPr>
          <a:xfrm>
            <a:off x="310896" y="83210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graph to see valleys first; then use calculus to verify them.</a:t>
            </a:r>
            <a:endParaRPr lang="en-US" sz="12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1F88423-8EF9-D579-8F51-2CF56838B37E}"/>
              </a:ext>
            </a:extLst>
          </p:cNvPr>
          <p:cNvSpPr/>
          <p:nvPr/>
        </p:nvSpPr>
        <p:spPr>
          <a:xfrm>
            <a:off x="685800" y="1234440"/>
            <a:ext cx="3840480" cy="1024128"/>
          </a:xfrm>
          <a:prstGeom prst="roundRect">
            <a:avLst>
              <a:gd name="adj" fmla="val 10714"/>
            </a:avLst>
          </a:prstGeom>
          <a:solidFill>
            <a:srgbClr val="FFF5F5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6E88BE-7C09-314F-1BEF-288244045D7F}"/>
              </a:ext>
            </a:extLst>
          </p:cNvPr>
          <p:cNvSpPr/>
          <p:nvPr/>
        </p:nvSpPr>
        <p:spPr>
          <a:xfrm>
            <a:off x="86868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826"/>
                </a:solidFill>
              </a:rPr>
              <a:t>Objective function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EA90DD-FB53-DEEA-50F6-919439361C4A}"/>
              </a:ext>
            </a:extLst>
          </p:cNvPr>
          <p:cNvSpPr/>
          <p:nvPr/>
        </p:nvSpPr>
        <p:spPr>
          <a:xfrm>
            <a:off x="86868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02020"/>
                </a:solidFill>
              </a:rPr>
              <a:t>Minimize  f(x) = x⁴ − 6x² + x + 10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BE2D074-ED93-5B7F-6B6D-22DD7C3CBDA8}"/>
              </a:ext>
            </a:extLst>
          </p:cNvPr>
          <p:cNvSpPr/>
          <p:nvPr/>
        </p:nvSpPr>
        <p:spPr>
          <a:xfrm>
            <a:off x="685800" y="2514600"/>
            <a:ext cx="17830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3D2DC8-1E4F-D594-86DF-A14BD07BEB90}"/>
              </a:ext>
            </a:extLst>
          </p:cNvPr>
          <p:cNvSpPr/>
          <p:nvPr/>
        </p:nvSpPr>
        <p:spPr>
          <a:xfrm>
            <a:off x="86868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1826"/>
                </a:solidFill>
              </a:rPr>
              <a:t>Local minimum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6D8807C-AA09-658B-0AD1-636AE4A0648A}"/>
              </a:ext>
            </a:extLst>
          </p:cNvPr>
          <p:cNvSpPr/>
          <p:nvPr/>
        </p:nvSpPr>
        <p:spPr>
          <a:xfrm>
            <a:off x="868680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02020"/>
                </a:solidFill>
              </a:rPr>
              <a:t>Best point in a nearby region — like a local valley.</a:t>
            </a:r>
            <a:endParaRPr lang="en-US" sz="116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41A5F90-7479-526C-2AE8-27FD07899963}"/>
              </a:ext>
            </a:extLst>
          </p:cNvPr>
          <p:cNvSpPr/>
          <p:nvPr/>
        </p:nvSpPr>
        <p:spPr>
          <a:xfrm>
            <a:off x="2743200" y="2514600"/>
            <a:ext cx="17830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CA23EA1-8724-1FC7-93FA-04D943EBF4C1}"/>
              </a:ext>
            </a:extLst>
          </p:cNvPr>
          <p:cNvSpPr/>
          <p:nvPr/>
        </p:nvSpPr>
        <p:spPr>
          <a:xfrm>
            <a:off x="292608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1826"/>
                </a:solidFill>
              </a:rPr>
              <a:t>Global minimum</a:t>
            </a: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A7BF05-9ADA-79BD-5851-F4589B7E2EB3}"/>
              </a:ext>
            </a:extLst>
          </p:cNvPr>
          <p:cNvSpPr/>
          <p:nvPr/>
        </p:nvSpPr>
        <p:spPr>
          <a:xfrm>
            <a:off x="2926080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02020"/>
                </a:solidFill>
              </a:rPr>
              <a:t>Best point across the entire function — the deepest valley.</a:t>
            </a:r>
            <a:endParaRPr lang="en-US" sz="116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F3EA617-3C1A-0C0F-1C66-C3B12D285320}"/>
              </a:ext>
            </a:extLst>
          </p:cNvPr>
          <p:cNvSpPr/>
          <p:nvPr/>
        </p:nvSpPr>
        <p:spPr>
          <a:xfrm>
            <a:off x="685800" y="3913632"/>
            <a:ext cx="38404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397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7E3B2F6-1ACC-BA3C-B9F3-B1C86E9DC336}"/>
              </a:ext>
            </a:extLst>
          </p:cNvPr>
          <p:cNvSpPr/>
          <p:nvPr/>
        </p:nvSpPr>
        <p:spPr>
          <a:xfrm>
            <a:off x="868680" y="40599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1826"/>
                </a:solidFill>
              </a:rPr>
              <a:t>Read the graph simply:</a:t>
            </a:r>
            <a:endParaRPr lang="en-US" sz="13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D3954EA-E324-A53C-059C-EAA5F732FAE1}"/>
              </a:ext>
            </a:extLst>
          </p:cNvPr>
          <p:cNvSpPr/>
          <p:nvPr/>
        </p:nvSpPr>
        <p:spPr>
          <a:xfrm>
            <a:off x="868680" y="440740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02020"/>
                </a:solidFill>
              </a:rPr>
              <a:t>There are two valleys. The left valley is lower, so it is the global minimum. The right valley is only a local minimum.</a:t>
            </a:r>
            <a:endParaRPr lang="en-US" sz="1260" dirty="0"/>
          </a:p>
        </p:txBody>
      </p:sp>
      <p:pic>
        <p:nvPicPr>
          <p:cNvPr id="17" name="Image 1" descr="/mnt/data/local_global_minima_graph.png">
            <a:extLst>
              <a:ext uri="{FF2B5EF4-FFF2-40B4-BE49-F238E27FC236}">
                <a16:creationId xmlns:a16="http://schemas.microsoft.com/office/drawing/2014/main" id="{6A5BC453-70A6-6EF8-B290-064AD15EB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6812280" cy="4160520"/>
          </a:xfrm>
          <a:prstGeom prst="rect">
            <a:avLst/>
          </a:prstGeom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880471F0-F751-2A1A-A49F-AAEE1C976AF1}"/>
              </a:ext>
            </a:extLst>
          </p:cNvPr>
          <p:cNvSpPr/>
          <p:nvPr/>
        </p:nvSpPr>
        <p:spPr>
          <a:xfrm>
            <a:off x="1828800" y="5760720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5F9FF"/>
          </a:solidFill>
          <a:ln w="13970">
            <a:solidFill>
              <a:srgbClr val="1F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584BD7E-465F-102C-7EF3-B9E403DC0507}"/>
              </a:ext>
            </a:extLst>
          </p:cNvPr>
          <p:cNvSpPr/>
          <p:nvPr/>
        </p:nvSpPr>
        <p:spPr>
          <a:xfrm>
            <a:off x="1965960" y="590702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020"/>
                </a:solidFill>
              </a:rPr>
              <a:t>“Local means best nearby; global means best overall.”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155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10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Solution: Find and Classify the Critical Points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10896" y="83210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derivative = 0 to find candidate points, then compare objective values.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21792" y="1234440"/>
            <a:ext cx="48006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81328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Differentiate the objective function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f′(x) = 4x³ − 12x + 1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Set derivative equal to zero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4x³ − 12x + 1 = 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2020"/>
                </a:solidFill>
              </a:rPr>
              <a:t>Critical points:  x ≈ −1.77, 0.08, 1.69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868680" y="3520440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3483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Use the second derivative test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f″(x) = 12x² − 12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4160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2020"/>
                </a:solidFill>
              </a:rPr>
              <a:t>If f″(x) &gt; 0 → local minimum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02020"/>
                </a:solidFill>
              </a:rPr>
              <a:t>If f″(x) &lt; 0 → local maximum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868680" y="4828032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25880" y="4791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Compare f(x) at all minima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5129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02020"/>
                </a:solidFill>
              </a:rPr>
              <a:t>Lowest f(x) = global minimum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053328" y="1984248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x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6830568" y="198424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f″(x)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EAC0-2900-45C1-9D12-24D33106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3.jpg">
            <a:extLst>
              <a:ext uri="{FF2B5EF4-FFF2-40B4-BE49-F238E27FC236}">
                <a16:creationId xmlns:a16="http://schemas.microsoft.com/office/drawing/2014/main" id="{C0CBF4E0-583E-2D1E-7FB0-E45200780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C14DE5B-4674-A8C0-9F7F-826764CA9D83}"/>
              </a:ext>
            </a:extLst>
          </p:cNvPr>
          <p:cNvSpPr/>
          <p:nvPr/>
        </p:nvSpPr>
        <p:spPr>
          <a:xfrm>
            <a:off x="292608" y="310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Solution: Find and Classify the Critical Points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6829BC-32C9-F94F-F946-DC13E7B93F28}"/>
              </a:ext>
            </a:extLst>
          </p:cNvPr>
          <p:cNvSpPr/>
          <p:nvPr/>
        </p:nvSpPr>
        <p:spPr>
          <a:xfrm>
            <a:off x="310896" y="83210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derivative = 0 to find candidate points, then compare objective values.</a:t>
            </a:r>
            <a:endParaRPr lang="en-US" sz="12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29D8D6B-81AC-3B72-39DB-F498F968901A}"/>
              </a:ext>
            </a:extLst>
          </p:cNvPr>
          <p:cNvSpPr/>
          <p:nvPr/>
        </p:nvSpPr>
        <p:spPr>
          <a:xfrm>
            <a:off x="621792" y="1234440"/>
            <a:ext cx="48006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0E670B-560D-77B7-5835-F9D3D7F5A4B9}"/>
              </a:ext>
            </a:extLst>
          </p:cNvPr>
          <p:cNvSpPr/>
          <p:nvPr/>
        </p:nvSpPr>
        <p:spPr>
          <a:xfrm>
            <a:off x="868680" y="1481328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618229-5017-0B3E-7F2B-406D2851CEB8}"/>
              </a:ext>
            </a:extLst>
          </p:cNvPr>
          <p:cNvSpPr/>
          <p:nvPr/>
        </p:nvSpPr>
        <p:spPr>
          <a:xfrm>
            <a:off x="13258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Differentiate the objective function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DECB2E6-6634-AB6C-48E6-88D6AF8185A9}"/>
              </a:ext>
            </a:extLst>
          </p:cNvPr>
          <p:cNvSpPr/>
          <p:nvPr/>
        </p:nvSpPr>
        <p:spPr>
          <a:xfrm>
            <a:off x="13258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f′(x) = 4x³ − 12x + 1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47DFFE8-9423-8FE9-89FC-1A34CF771415}"/>
              </a:ext>
            </a:extLst>
          </p:cNvPr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9FEBB59-0B85-B006-6C4F-71ECE9A52465}"/>
              </a:ext>
            </a:extLst>
          </p:cNvPr>
          <p:cNvSpPr/>
          <p:nvPr/>
        </p:nvSpPr>
        <p:spPr>
          <a:xfrm>
            <a:off x="132588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Set derivative equal to zero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D022682-3495-2A2E-EA57-C6752520ED03}"/>
              </a:ext>
            </a:extLst>
          </p:cNvPr>
          <p:cNvSpPr/>
          <p:nvPr/>
        </p:nvSpPr>
        <p:spPr>
          <a:xfrm>
            <a:off x="13258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4x³ − 12x + 1 = 0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8A209E3-C39F-1492-AA0C-37D57E72FDD1}"/>
              </a:ext>
            </a:extLst>
          </p:cNvPr>
          <p:cNvSpPr/>
          <p:nvPr/>
        </p:nvSpPr>
        <p:spPr>
          <a:xfrm>
            <a:off x="132588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2020"/>
                </a:solidFill>
              </a:rPr>
              <a:t>Critical points:  x ≈ −1.77, 0.08, 1.69</a:t>
            </a:r>
            <a:endParaRPr lang="en-US" sz="136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BB60654-BDEB-8BE0-76C8-80DCA0A1375B}"/>
              </a:ext>
            </a:extLst>
          </p:cNvPr>
          <p:cNvSpPr/>
          <p:nvPr/>
        </p:nvSpPr>
        <p:spPr>
          <a:xfrm>
            <a:off x="868680" y="3520440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A3D52FE-34BA-2A82-E38B-A7A31C2E390A}"/>
              </a:ext>
            </a:extLst>
          </p:cNvPr>
          <p:cNvSpPr/>
          <p:nvPr/>
        </p:nvSpPr>
        <p:spPr>
          <a:xfrm>
            <a:off x="1325880" y="3483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Use the second derivative test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F541F47-7E51-3284-80AF-DAD811002806}"/>
              </a:ext>
            </a:extLst>
          </p:cNvPr>
          <p:cNvSpPr/>
          <p:nvPr/>
        </p:nvSpPr>
        <p:spPr>
          <a:xfrm>
            <a:off x="132588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</a:rPr>
              <a:t>f″(x) = 12x² − 12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45226ED-740A-7F5F-CD5A-F23939C8B5D6}"/>
              </a:ext>
            </a:extLst>
          </p:cNvPr>
          <p:cNvSpPr/>
          <p:nvPr/>
        </p:nvSpPr>
        <p:spPr>
          <a:xfrm>
            <a:off x="1325880" y="4160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2020"/>
                </a:solidFill>
              </a:rPr>
              <a:t>If f″(x) &gt; 0 → local minimum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202020"/>
                </a:solidFill>
              </a:rPr>
              <a:t>If f″(x) &lt; 0 → local maximum</a:t>
            </a:r>
            <a:endParaRPr lang="en-US" sz="128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F8E01F7-34BA-2B7C-F62A-5926A501FF7C}"/>
              </a:ext>
            </a:extLst>
          </p:cNvPr>
          <p:cNvSpPr/>
          <p:nvPr/>
        </p:nvSpPr>
        <p:spPr>
          <a:xfrm>
            <a:off x="868680" y="4828032"/>
            <a:ext cx="320040" cy="320040"/>
          </a:xfrm>
          <a:prstGeom prst="rect">
            <a:avLst/>
          </a:prstGeom>
          <a:solidFill>
            <a:srgbClr val="E3182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2CF6C74-F8EC-0073-DC6D-4996114800FF}"/>
              </a:ext>
            </a:extLst>
          </p:cNvPr>
          <p:cNvSpPr/>
          <p:nvPr/>
        </p:nvSpPr>
        <p:spPr>
          <a:xfrm>
            <a:off x="1325880" y="4791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826"/>
                </a:solidFill>
              </a:rPr>
              <a:t>Compare f(x) at all minima</a:t>
            </a:r>
            <a:endParaRPr lang="en-US" sz="1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1C8431A-1A4D-CD7B-9430-1E790B2D6C4B}"/>
              </a:ext>
            </a:extLst>
          </p:cNvPr>
          <p:cNvSpPr/>
          <p:nvPr/>
        </p:nvSpPr>
        <p:spPr>
          <a:xfrm>
            <a:off x="1325880" y="5129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02020"/>
                </a:solidFill>
              </a:rPr>
              <a:t>Lowest f(x) = global minimum</a:t>
            </a:r>
            <a:endParaRPr lang="en-US" sz="152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D8BB23A-BD15-557A-5150-3462D9C42EEB}"/>
              </a:ext>
            </a:extLst>
          </p:cNvPr>
          <p:cNvSpPr/>
          <p:nvPr/>
        </p:nvSpPr>
        <p:spPr>
          <a:xfrm>
            <a:off x="5715000" y="1234440"/>
            <a:ext cx="5532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7ECB3B6-D065-CAA5-D39F-EAA89B831B03}"/>
              </a:ext>
            </a:extLst>
          </p:cNvPr>
          <p:cNvSpPr/>
          <p:nvPr/>
        </p:nvSpPr>
        <p:spPr>
          <a:xfrm>
            <a:off x="598932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1826"/>
                </a:solidFill>
              </a:rPr>
              <a:t>Classification Table</a:t>
            </a:r>
            <a:endParaRPr lang="en-US" sz="16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EF73AF0-2DA3-33FF-2C65-F248488DF689}"/>
              </a:ext>
            </a:extLst>
          </p:cNvPr>
          <p:cNvSpPr/>
          <p:nvPr/>
        </p:nvSpPr>
        <p:spPr>
          <a:xfrm>
            <a:off x="5989320" y="1874520"/>
            <a:ext cx="777240" cy="384048"/>
          </a:xfrm>
          <a:prstGeom prst="rect">
            <a:avLst/>
          </a:prstGeom>
          <a:solidFill>
            <a:srgbClr val="E31826"/>
          </a:solidFill>
          <a:ln w="635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85906EA-4591-A0A2-C155-957280009205}"/>
              </a:ext>
            </a:extLst>
          </p:cNvPr>
          <p:cNvSpPr/>
          <p:nvPr/>
        </p:nvSpPr>
        <p:spPr>
          <a:xfrm>
            <a:off x="6053328" y="1984248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x</a:t>
            </a:r>
            <a:endParaRPr lang="en-US" sz="123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74774E5-C054-A807-E566-C37B044B0CE0}"/>
              </a:ext>
            </a:extLst>
          </p:cNvPr>
          <p:cNvSpPr/>
          <p:nvPr/>
        </p:nvSpPr>
        <p:spPr>
          <a:xfrm>
            <a:off x="6766560" y="1874520"/>
            <a:ext cx="960120" cy="384048"/>
          </a:xfrm>
          <a:prstGeom prst="rect">
            <a:avLst/>
          </a:prstGeom>
          <a:solidFill>
            <a:srgbClr val="E31826"/>
          </a:solidFill>
          <a:ln w="635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BB6D1FF-B286-3E77-973C-46FC30CFD78C}"/>
              </a:ext>
            </a:extLst>
          </p:cNvPr>
          <p:cNvSpPr/>
          <p:nvPr/>
        </p:nvSpPr>
        <p:spPr>
          <a:xfrm>
            <a:off x="6830568" y="198424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f″(x)</a:t>
            </a:r>
            <a:endParaRPr lang="en-US" sz="123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C023558-B8FD-AB4C-EBFA-799970DFBC68}"/>
              </a:ext>
            </a:extLst>
          </p:cNvPr>
          <p:cNvSpPr/>
          <p:nvPr/>
        </p:nvSpPr>
        <p:spPr>
          <a:xfrm>
            <a:off x="7726680" y="1874520"/>
            <a:ext cx="1508760" cy="384048"/>
          </a:xfrm>
          <a:prstGeom prst="rect">
            <a:avLst/>
          </a:prstGeom>
          <a:solidFill>
            <a:srgbClr val="E31826"/>
          </a:solidFill>
          <a:ln w="635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77DA55F-41DA-64E5-5B2E-8A940C909D89}"/>
              </a:ext>
            </a:extLst>
          </p:cNvPr>
          <p:cNvSpPr/>
          <p:nvPr/>
        </p:nvSpPr>
        <p:spPr>
          <a:xfrm>
            <a:off x="7790688" y="1984248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Type</a:t>
            </a:r>
            <a:endParaRPr lang="en-US" sz="123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B102808-665A-1A13-C7C6-64FAD93C9F45}"/>
              </a:ext>
            </a:extLst>
          </p:cNvPr>
          <p:cNvSpPr/>
          <p:nvPr/>
        </p:nvSpPr>
        <p:spPr>
          <a:xfrm>
            <a:off x="9235440" y="1874520"/>
            <a:ext cx="960120" cy="384048"/>
          </a:xfrm>
          <a:prstGeom prst="rect">
            <a:avLst/>
          </a:prstGeom>
          <a:solidFill>
            <a:srgbClr val="E31826"/>
          </a:solidFill>
          <a:ln w="635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C9D7D23-71FD-8240-6BB3-CAAC0A149042}"/>
              </a:ext>
            </a:extLst>
          </p:cNvPr>
          <p:cNvSpPr/>
          <p:nvPr/>
        </p:nvSpPr>
        <p:spPr>
          <a:xfrm>
            <a:off x="9299448" y="198424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f(x)</a:t>
            </a:r>
            <a:endParaRPr lang="en-US" sz="123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C03A562-FCFB-76B4-5BEB-2F4139472A6F}"/>
              </a:ext>
            </a:extLst>
          </p:cNvPr>
          <p:cNvSpPr/>
          <p:nvPr/>
        </p:nvSpPr>
        <p:spPr>
          <a:xfrm>
            <a:off x="5989320" y="2258568"/>
            <a:ext cx="777240" cy="512064"/>
          </a:xfrm>
          <a:prstGeom prst="rect">
            <a:avLst/>
          </a:prstGeom>
          <a:solidFill>
            <a:srgbClr val="FFF7F7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8753A1B-CCA8-D59A-1E50-CD65A0FFD09D}"/>
              </a:ext>
            </a:extLst>
          </p:cNvPr>
          <p:cNvSpPr/>
          <p:nvPr/>
        </p:nvSpPr>
        <p:spPr>
          <a:xfrm>
            <a:off x="6053328" y="242316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−1.77</a:t>
            </a:r>
            <a:endParaRPr lang="en-US" sz="123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0D072CC-5219-7BFC-1C4D-DACD628EA06F}"/>
              </a:ext>
            </a:extLst>
          </p:cNvPr>
          <p:cNvSpPr/>
          <p:nvPr/>
        </p:nvSpPr>
        <p:spPr>
          <a:xfrm>
            <a:off x="6766560" y="2258568"/>
            <a:ext cx="960120" cy="512064"/>
          </a:xfrm>
          <a:prstGeom prst="rect">
            <a:avLst/>
          </a:prstGeom>
          <a:solidFill>
            <a:srgbClr val="FFF7F7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147F216-4D85-D2A3-9C6E-2A7376E2C1FE}"/>
              </a:ext>
            </a:extLst>
          </p:cNvPr>
          <p:cNvSpPr/>
          <p:nvPr/>
        </p:nvSpPr>
        <p:spPr>
          <a:xfrm>
            <a:off x="6830568" y="2423160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+25.69</a:t>
            </a:r>
            <a:endParaRPr lang="en-US" sz="123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341775F6-4A66-1808-572B-846315D64A82}"/>
              </a:ext>
            </a:extLst>
          </p:cNvPr>
          <p:cNvSpPr/>
          <p:nvPr/>
        </p:nvSpPr>
        <p:spPr>
          <a:xfrm>
            <a:off x="7726680" y="2258568"/>
            <a:ext cx="1508760" cy="512064"/>
          </a:xfrm>
          <a:prstGeom prst="rect">
            <a:avLst/>
          </a:prstGeom>
          <a:solidFill>
            <a:srgbClr val="FFF7F7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2D939FF-6247-3D84-BC4A-707B02474801}"/>
              </a:ext>
            </a:extLst>
          </p:cNvPr>
          <p:cNvSpPr/>
          <p:nvPr/>
        </p:nvSpPr>
        <p:spPr>
          <a:xfrm>
            <a:off x="7790688" y="242316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Local min</a:t>
            </a:r>
            <a:endParaRPr lang="en-US" sz="123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0E5751F0-0BA8-C4B9-AD9A-F2435DE5D9B1}"/>
              </a:ext>
            </a:extLst>
          </p:cNvPr>
          <p:cNvSpPr/>
          <p:nvPr/>
        </p:nvSpPr>
        <p:spPr>
          <a:xfrm>
            <a:off x="9235440" y="2258568"/>
            <a:ext cx="960120" cy="512064"/>
          </a:xfrm>
          <a:prstGeom prst="rect">
            <a:avLst/>
          </a:prstGeom>
          <a:solidFill>
            <a:srgbClr val="FFF7F7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36756B0-D0B7-6216-E740-FAC84CE60586}"/>
              </a:ext>
            </a:extLst>
          </p:cNvPr>
          <p:cNvSpPr/>
          <p:nvPr/>
        </p:nvSpPr>
        <p:spPr>
          <a:xfrm>
            <a:off x="9299448" y="2423160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E31826"/>
                </a:solidFill>
              </a:rPr>
              <a:t>−0.75</a:t>
            </a:r>
            <a:endParaRPr lang="en-US" sz="123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F0ADD70-0B6A-623A-101D-D0BBEC30E621}"/>
              </a:ext>
            </a:extLst>
          </p:cNvPr>
          <p:cNvSpPr/>
          <p:nvPr/>
        </p:nvSpPr>
        <p:spPr>
          <a:xfrm>
            <a:off x="5989320" y="2770632"/>
            <a:ext cx="7772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986D2AC8-F2DF-DBE6-6A13-DA7E651B03B0}"/>
              </a:ext>
            </a:extLst>
          </p:cNvPr>
          <p:cNvSpPr/>
          <p:nvPr/>
        </p:nvSpPr>
        <p:spPr>
          <a:xfrm>
            <a:off x="6053328" y="2935224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0.08</a:t>
            </a:r>
            <a:endParaRPr lang="en-US" sz="123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24F6CDFB-560C-4B97-9872-727A6090BED1}"/>
              </a:ext>
            </a:extLst>
          </p:cNvPr>
          <p:cNvSpPr/>
          <p:nvPr/>
        </p:nvSpPr>
        <p:spPr>
          <a:xfrm>
            <a:off x="6766560" y="2770632"/>
            <a:ext cx="960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427F64BA-FCDA-1750-F472-E837C8D162E0}"/>
              </a:ext>
            </a:extLst>
          </p:cNvPr>
          <p:cNvSpPr/>
          <p:nvPr/>
        </p:nvSpPr>
        <p:spPr>
          <a:xfrm>
            <a:off x="6830568" y="2935224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−11.92</a:t>
            </a:r>
            <a:endParaRPr lang="en-US" sz="123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19F1CB73-115A-8A95-B5DD-EBF622BBC84A}"/>
              </a:ext>
            </a:extLst>
          </p:cNvPr>
          <p:cNvSpPr/>
          <p:nvPr/>
        </p:nvSpPr>
        <p:spPr>
          <a:xfrm>
            <a:off x="7726680" y="2770632"/>
            <a:ext cx="15087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5058F24-F086-E4C5-8C08-AD2C4FEDDDCE}"/>
              </a:ext>
            </a:extLst>
          </p:cNvPr>
          <p:cNvSpPr/>
          <p:nvPr/>
        </p:nvSpPr>
        <p:spPr>
          <a:xfrm>
            <a:off x="7790688" y="293522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Local max</a:t>
            </a:r>
            <a:endParaRPr lang="en-US" sz="123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5CE0FB0D-EAA1-628E-D01C-20A4DB8A3F61}"/>
              </a:ext>
            </a:extLst>
          </p:cNvPr>
          <p:cNvSpPr/>
          <p:nvPr/>
        </p:nvSpPr>
        <p:spPr>
          <a:xfrm>
            <a:off x="9235440" y="2770632"/>
            <a:ext cx="960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833D5B00-79C5-BDFB-7F21-A99B67D21460}"/>
              </a:ext>
            </a:extLst>
          </p:cNvPr>
          <p:cNvSpPr/>
          <p:nvPr/>
        </p:nvSpPr>
        <p:spPr>
          <a:xfrm>
            <a:off x="9299448" y="2935224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10.04</a:t>
            </a:r>
            <a:endParaRPr lang="en-US" sz="1230" dirty="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99B24510-DF1D-9AFC-49F6-9975D6553C24}"/>
              </a:ext>
            </a:extLst>
          </p:cNvPr>
          <p:cNvSpPr/>
          <p:nvPr/>
        </p:nvSpPr>
        <p:spPr>
          <a:xfrm>
            <a:off x="5989320" y="3282696"/>
            <a:ext cx="7772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2710118A-26A2-5BF0-5064-4ECB37226786}"/>
              </a:ext>
            </a:extLst>
          </p:cNvPr>
          <p:cNvSpPr/>
          <p:nvPr/>
        </p:nvSpPr>
        <p:spPr>
          <a:xfrm>
            <a:off x="6053328" y="3447288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1.69</a:t>
            </a:r>
            <a:endParaRPr lang="en-US" sz="1230" dirty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6F8ADADB-F659-90EA-25F5-D0A7DB247B86}"/>
              </a:ext>
            </a:extLst>
          </p:cNvPr>
          <p:cNvSpPr/>
          <p:nvPr/>
        </p:nvSpPr>
        <p:spPr>
          <a:xfrm>
            <a:off x="6766560" y="3282696"/>
            <a:ext cx="960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528B5BA0-1B7B-EF41-CF54-B1B0778C5F64}"/>
              </a:ext>
            </a:extLst>
          </p:cNvPr>
          <p:cNvSpPr/>
          <p:nvPr/>
        </p:nvSpPr>
        <p:spPr>
          <a:xfrm>
            <a:off x="6830568" y="344728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+22.22</a:t>
            </a:r>
            <a:endParaRPr lang="en-US" sz="123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74B8BCB4-A92E-D122-4A84-066B27946DFC}"/>
              </a:ext>
            </a:extLst>
          </p:cNvPr>
          <p:cNvSpPr/>
          <p:nvPr/>
        </p:nvSpPr>
        <p:spPr>
          <a:xfrm>
            <a:off x="7726680" y="3282696"/>
            <a:ext cx="15087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BECEE0AD-C9B0-F070-D7D5-B8A5C273E950}"/>
              </a:ext>
            </a:extLst>
          </p:cNvPr>
          <p:cNvSpPr/>
          <p:nvPr/>
        </p:nvSpPr>
        <p:spPr>
          <a:xfrm>
            <a:off x="7790688" y="3447288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Local min</a:t>
            </a:r>
            <a:endParaRPr lang="en-US" sz="1230" dirty="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8084F34A-38A4-DA6C-7609-AA3233088A40}"/>
              </a:ext>
            </a:extLst>
          </p:cNvPr>
          <p:cNvSpPr/>
          <p:nvPr/>
        </p:nvSpPr>
        <p:spPr>
          <a:xfrm>
            <a:off x="9235440" y="3282696"/>
            <a:ext cx="960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14BD9705-B771-BBD7-6185-084255CF6365}"/>
              </a:ext>
            </a:extLst>
          </p:cNvPr>
          <p:cNvSpPr/>
          <p:nvPr/>
        </p:nvSpPr>
        <p:spPr>
          <a:xfrm>
            <a:off x="9299448" y="344728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</a:rPr>
              <a:t>2.71</a:t>
            </a:r>
            <a:endParaRPr lang="en-US" sz="123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5AC63526-39BA-8ED5-7E4E-9C3ECEC51130}"/>
              </a:ext>
            </a:extLst>
          </p:cNvPr>
          <p:cNvSpPr/>
          <p:nvPr/>
        </p:nvSpPr>
        <p:spPr>
          <a:xfrm>
            <a:off x="6190488" y="4096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31826"/>
                </a:solidFill>
              </a:rPr>
              <a:t>Global minimum because this is the lowest objective value</a:t>
            </a:r>
            <a:endParaRPr lang="en-US" sz="132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F70EBAC6-F4AA-41A8-E14B-60BB771A9EC8}"/>
              </a:ext>
            </a:extLst>
          </p:cNvPr>
          <p:cNvSpPr/>
          <p:nvPr/>
        </p:nvSpPr>
        <p:spPr>
          <a:xfrm>
            <a:off x="6190488" y="45079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555555"/>
                </a:solidFill>
              </a:rPr>
              <a:t>Remember: For minimization, lower f(x) is better.</a:t>
            </a:r>
            <a:endParaRPr lang="en-US" sz="1280" dirty="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22C8E63B-F88F-42BF-7CD2-2D9DF8A2F686}"/>
              </a:ext>
            </a:extLst>
          </p:cNvPr>
          <p:cNvSpPr/>
          <p:nvPr/>
        </p:nvSpPr>
        <p:spPr>
          <a:xfrm>
            <a:off x="2011680" y="5833872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FF5F5"/>
          </a:solidFill>
          <a:ln w="13970">
            <a:solidFill>
              <a:srgbClr val="E3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AA6DD341-07EC-A2AB-86B7-9C4A2B6191C0}"/>
              </a:ext>
            </a:extLst>
          </p:cNvPr>
          <p:cNvSpPr/>
          <p:nvPr/>
        </p:nvSpPr>
        <p:spPr>
          <a:xfrm>
            <a:off x="2176272" y="5971032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02020"/>
                </a:solidFill>
              </a:rPr>
              <a:t>Final answer: Global minimum at x ≈ −1.77 with f(x) ≈ −0.75; another local minimum occurs at x ≈ 1.69.</a:t>
            </a:r>
            <a:endParaRPr lang="en-US" sz="1420" dirty="0"/>
          </a:p>
        </p:txBody>
      </p:sp>
    </p:spTree>
    <p:extLst>
      <p:ext uri="{BB962C8B-B14F-4D97-AF65-F5344CB8AC3E}">
        <p14:creationId xmlns:p14="http://schemas.microsoft.com/office/powerpoint/2010/main" val="279334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9683-BADF-5AD1-889C-13D97A4C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>
            <a:extLst>
              <a:ext uri="{FF2B5EF4-FFF2-40B4-BE49-F238E27FC236}">
                <a16:creationId xmlns:a16="http://schemas.microsoft.com/office/drawing/2014/main" id="{FD23F5B3-D3DF-60B8-9332-4FAFEED0C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90F6D5-2E62-64A3-26FC-1131CFC18C59}"/>
              </a:ext>
            </a:extLst>
          </p:cNvPr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 1: Local vs Global Optimum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AFF1FE9-876B-A5F2-1E33-0BBE94413317}"/>
              </a:ext>
            </a:extLst>
          </p:cNvPr>
          <p:cNvSpPr/>
          <p:nvPr/>
        </p:nvSpPr>
        <p:spPr>
          <a:xfrm>
            <a:off x="731520" y="1234440"/>
            <a:ext cx="107899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11EC31-FD47-275C-239D-F15BAE5A89A4}"/>
              </a:ext>
            </a:extLst>
          </p:cNvPr>
          <p:cNvSpPr/>
          <p:nvPr/>
        </p:nvSpPr>
        <p:spPr>
          <a:xfrm>
            <a:off x="1005840" y="1600200"/>
            <a:ext cx="98755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</a:rPr>
              <a:t>MCQ: In a minimization problem, a point is called a global minimum when: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DEF643-8786-8356-1989-3E13E31A1A0D}"/>
              </a:ext>
            </a:extLst>
          </p:cNvPr>
          <p:cNvSpPr/>
          <p:nvPr/>
        </p:nvSpPr>
        <p:spPr>
          <a:xfrm>
            <a:off x="1143000" y="2148840"/>
            <a:ext cx="10083800" cy="2484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2400" dirty="0">
                <a:solidFill>
                  <a:srgbClr val="1F1F1F"/>
                </a:solidFill>
              </a:rPr>
              <a:t>A. It has the lowest value compared only with nearby points.
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</a:rPr>
              <a:t>B. It has the lowest value among all feasible points.
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</a:rPr>
              <a:t>C. It is found by any algorithm in the first iteration.
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</a:rPr>
              <a:t>D. It always occurs at x = 0.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941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 1: Local vs Global Optimum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107899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600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MCQ: In a minimization problem, a point is called a global minimum when: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" y="2148840"/>
            <a:ext cx="96012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500" dirty="0">
                <a:solidFill>
                  <a:srgbClr val="1F1F1F"/>
                </a:solidFill>
              </a:rPr>
              <a:t>A. It has the lowest value compared only with nearby points.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B. It has the lowest value among all feasible points.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C. It is found by any algorithm in the first iteration.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D. It always occurs at x = 0.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5840" y="4251960"/>
            <a:ext cx="9966960" cy="868680"/>
          </a:xfrm>
          <a:prstGeom prst="roundRect">
            <a:avLst>
              <a:gd name="adj" fmla="val 9474"/>
            </a:avLst>
          </a:prstGeom>
          <a:solidFill>
            <a:srgbClr val="F5FFF6"/>
          </a:solidFill>
          <a:ln w="1016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34440" y="4526280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8B45"/>
                </a:solidFill>
              </a:rPr>
              <a:t>Answer: B. Global means best across the entire feasible region, not just nearby.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Convex and Non-Convex Optimization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</a:rPr>
              <a:t>Convex problems are easier because every local optimum is also global.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94360" y="11430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31B23"/>
                </a:solidFill>
              </a:rPr>
              <a:t>Convex: one smooth bowl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1783080"/>
            <a:ext cx="4572000" cy="2514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4434840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DB3"/>
                </a:solidFill>
              </a:rPr>
              <a:t>Any valley bottom is the best valley bottom (global minima).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09360" y="11430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8368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31B23"/>
                </a:solidFill>
              </a:rPr>
              <a:t>Non-convex: many valleys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1783080"/>
            <a:ext cx="4572000" cy="2514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29400" y="4434840"/>
            <a:ext cx="4572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8C28"/>
                </a:solidFill>
              </a:rPr>
              <a:t>The algorithm may stop in a local minima, not the global minima.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A6A82-5334-9494-33EB-01FBB05A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>
            <a:extLst>
              <a:ext uri="{FF2B5EF4-FFF2-40B4-BE49-F238E27FC236}">
                <a16:creationId xmlns:a16="http://schemas.microsoft.com/office/drawing/2014/main" id="{8457ADFC-77FF-BE4B-7156-40A8655E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1641982-792A-F4E3-9AB5-6CF88C108D3A}"/>
              </a:ext>
            </a:extLst>
          </p:cNvPr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Numerical 2: Finding the Minimum of a Convex Function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BBDAEFF-5248-C808-A35E-D6C27F6D6220}"/>
              </a:ext>
            </a:extLst>
          </p:cNvPr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55555"/>
                </a:solidFill>
              </a:rPr>
              <a:t>A simple calculus-based optimization example.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02F6BB9-4D33-9B38-DADA-2A1AEC24E6E3}"/>
              </a:ext>
            </a:extLst>
          </p:cNvPr>
          <p:cNvSpPr/>
          <p:nvPr/>
        </p:nvSpPr>
        <p:spPr>
          <a:xfrm>
            <a:off x="685800" y="1234440"/>
            <a:ext cx="4663440" cy="868680"/>
          </a:xfrm>
          <a:prstGeom prst="roundRect">
            <a:avLst>
              <a:gd name="adj" fmla="val 9474"/>
            </a:avLst>
          </a:prstGeom>
          <a:solidFill>
            <a:srgbClr val="FFF5F5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26011B3-7948-261F-DC8E-2D3AA9C6F518}"/>
              </a:ext>
            </a:extLst>
          </p:cNvPr>
          <p:cNvSpPr/>
          <p:nvPr/>
        </p:nvSpPr>
        <p:spPr>
          <a:xfrm>
            <a:off x="850392" y="1344168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7D4DD6-FB93-1E21-3D0F-5DEBA98A9237}"/>
              </a:ext>
            </a:extLst>
          </p:cNvPr>
          <p:cNvSpPr/>
          <p:nvPr/>
        </p:nvSpPr>
        <p:spPr>
          <a:xfrm>
            <a:off x="850392" y="1618488"/>
            <a:ext cx="43342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</a:rPr>
              <a:t>Minimize f(x) = (x − 3)² + 5</a:t>
            </a:r>
            <a:endParaRPr lang="en-US" sz="3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DB57960-0FED-B06F-D94C-0AA2459CC2EA}"/>
              </a:ext>
            </a:extLst>
          </p:cNvPr>
          <p:cNvSpPr/>
          <p:nvPr/>
        </p:nvSpPr>
        <p:spPr>
          <a:xfrm>
            <a:off x="32004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</a:rPr>
              <a:t>Numerical Optimization | Chandigarh University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241710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Numerical 2: Finding the Minimum of a Convex Function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55555"/>
                </a:solidFill>
              </a:rPr>
              <a:t>A simple calculus-based optimization example.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234440"/>
            <a:ext cx="4663440" cy="868680"/>
          </a:xfrm>
          <a:prstGeom prst="roundRect">
            <a:avLst>
              <a:gd name="adj" fmla="val 9474"/>
            </a:avLst>
          </a:prstGeom>
          <a:solidFill>
            <a:srgbClr val="FFF5F5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" y="1344168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" y="1618488"/>
            <a:ext cx="43342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</a:rPr>
              <a:t>Minimize f(x) = (x − 3)² + 5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466344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31B23"/>
                </a:solidFill>
              </a:rPr>
              <a:t>Steps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005840" y="2971800"/>
            <a:ext cx="3977640" cy="2077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Derivative: f′(x) = 2(x − 3)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Set derivative to zero: 2(x − 3) = 0
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Therefore: x 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Minimum value: f(3) = (0)² + 5 = 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06440" y="1234440"/>
            <a:ext cx="544068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760" y="1432560"/>
            <a:ext cx="5123974" cy="3093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4663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38B45"/>
                </a:solidFill>
              </a:rPr>
              <a:t>Answer: x = 3 and minimum value = 5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004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</a:rPr>
              <a:t>Numerical Optimization | Chandigarh University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CD84-F20D-5400-03DB-AB738FC6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>
            <a:extLst>
              <a:ext uri="{FF2B5EF4-FFF2-40B4-BE49-F238E27FC236}">
                <a16:creationId xmlns:a16="http://schemas.microsoft.com/office/drawing/2014/main" id="{0AC3A8A5-E54F-C0FA-38E5-4A7B4991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E4A607F-A285-75B8-6515-1B335E152B26}"/>
              </a:ext>
            </a:extLst>
          </p:cNvPr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3A. Gradient-Based Optimization Methods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25E2D53-6C8B-80B5-F453-6D4450852FAC}"/>
              </a:ext>
            </a:extLst>
          </p:cNvPr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</a:rPr>
              <a:t>These methods use the slope to decide the direction of improvement.</a:t>
            </a: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8296206-8A46-DCF6-06F3-8F03282D017B}"/>
              </a:ext>
            </a:extLst>
          </p:cNvPr>
          <p:cNvSpPr/>
          <p:nvPr/>
        </p:nvSpPr>
        <p:spPr>
          <a:xfrm>
            <a:off x="685800" y="1188720"/>
            <a:ext cx="4389120" cy="1005840"/>
          </a:xfrm>
          <a:prstGeom prst="roundRect">
            <a:avLst>
              <a:gd name="adj" fmla="val 8182"/>
            </a:avLst>
          </a:prstGeom>
          <a:solidFill>
            <a:srgbClr val="FFF5F5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095F2B-01F7-EE98-EDA2-DFDEBD8156DE}"/>
              </a:ext>
            </a:extLst>
          </p:cNvPr>
          <p:cNvSpPr/>
          <p:nvPr/>
        </p:nvSpPr>
        <p:spPr>
          <a:xfrm>
            <a:off x="850392" y="1298448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1B23"/>
                </a:solidFill>
              </a:rPr>
              <a:t>Gradient descent update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197F726-B508-F954-5F8C-7A8EBE61B82C}"/>
              </a:ext>
            </a:extLst>
          </p:cNvPr>
          <p:cNvSpPr/>
          <p:nvPr/>
        </p:nvSpPr>
        <p:spPr>
          <a:xfrm>
            <a:off x="850392" y="1572768"/>
            <a:ext cx="405993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</a:rPr>
              <a:t>xₖ₊₁ = xₖ − α ∇f(xₖ)</a:t>
            </a:r>
            <a:endParaRPr lang="en-US" sz="4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9E05734-0663-D9E7-3499-B7ACB7A2C3E3}"/>
              </a:ext>
            </a:extLst>
          </p:cNvPr>
          <p:cNvSpPr/>
          <p:nvPr/>
        </p:nvSpPr>
        <p:spPr>
          <a:xfrm>
            <a:off x="685800" y="2487168"/>
            <a:ext cx="43891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D2D64CD-20B6-564E-8EEE-0AAC18D51265}"/>
              </a:ext>
            </a:extLst>
          </p:cNvPr>
          <p:cNvSpPr/>
          <p:nvPr/>
        </p:nvSpPr>
        <p:spPr>
          <a:xfrm>
            <a:off x="960120" y="26426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Meaning of symbols</a:t>
            </a:r>
            <a:endParaRPr lang="en-US" sz="2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FE15473-F9CB-FCA0-FBEB-006DC16E4C67}"/>
              </a:ext>
            </a:extLst>
          </p:cNvPr>
          <p:cNvSpPr/>
          <p:nvPr/>
        </p:nvSpPr>
        <p:spPr>
          <a:xfrm>
            <a:off x="987552" y="3090672"/>
            <a:ext cx="3922776" cy="1725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F1F1F"/>
                </a:solidFill>
              </a:rPr>
              <a:t>xₖ = current solution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∇f(xₖ) = gradient/slope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α = learning rate or step size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Move opposite the gradient for minimization</a:t>
            </a:r>
            <a:endParaRPr lang="en-US" sz="16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60FACEB-4E12-D167-EBFC-AB7C63049770}"/>
              </a:ext>
            </a:extLst>
          </p:cNvPr>
          <p:cNvSpPr/>
          <p:nvPr/>
        </p:nvSpPr>
        <p:spPr>
          <a:xfrm>
            <a:off x="6009640" y="1188720"/>
            <a:ext cx="4572000" cy="4041648"/>
          </a:xfrm>
          <a:prstGeom prst="roundRect">
            <a:avLst>
              <a:gd name="adj" fmla="val 2715"/>
            </a:avLst>
          </a:prstGeom>
          <a:solidFill>
            <a:srgbClr val="F2F7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9C6CEAC-FBD4-9145-C7CB-B0121B0652B5}"/>
              </a:ext>
            </a:extLst>
          </p:cNvPr>
          <p:cNvSpPr/>
          <p:nvPr/>
        </p:nvSpPr>
        <p:spPr>
          <a:xfrm>
            <a:off x="6283960" y="1444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</a:rPr>
              <a:t>Core idea</a:t>
            </a:r>
            <a:endParaRPr lang="en-US" sz="2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35B9117-A5F9-6700-1E3B-83EC87ED0E04}"/>
              </a:ext>
            </a:extLst>
          </p:cNvPr>
          <p:cNvSpPr/>
          <p:nvPr/>
        </p:nvSpPr>
        <p:spPr>
          <a:xfrm>
            <a:off x="6283960" y="1883664"/>
            <a:ext cx="3977640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If the slope is positive, move left.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If the slope is negative, move right.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Keep moving until the slope is close to zero.</a:t>
            </a:r>
            <a:endParaRPr lang="en-US" sz="1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6D9B482-E70D-310C-63DC-293867270C41}"/>
              </a:ext>
            </a:extLst>
          </p:cNvPr>
          <p:cNvSpPr/>
          <p:nvPr/>
        </p:nvSpPr>
        <p:spPr>
          <a:xfrm>
            <a:off x="6283960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Simple formula</a:t>
            </a:r>
            <a:endParaRPr lang="en-US" sz="17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35B06BC5-C3F7-7AF9-DF1B-174D350D9C96}"/>
              </a:ext>
            </a:extLst>
          </p:cNvPr>
          <p:cNvSpPr/>
          <p:nvPr/>
        </p:nvSpPr>
        <p:spPr>
          <a:xfrm>
            <a:off x="6283960" y="3547872"/>
            <a:ext cx="3703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29FE5740-3E7A-F74F-093D-371A0EEC60BF}"/>
              </a:ext>
            </a:extLst>
          </p:cNvPr>
          <p:cNvSpPr/>
          <p:nvPr/>
        </p:nvSpPr>
        <p:spPr>
          <a:xfrm>
            <a:off x="6283960" y="36830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new x = old x − learning rate × slope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79567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3A. Gradient-Based Optimization Methods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</a:rPr>
              <a:t>These methods use the slope to decide the direction of improvement.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85800" y="1188720"/>
            <a:ext cx="4389120" cy="1005840"/>
          </a:xfrm>
          <a:prstGeom prst="roundRect">
            <a:avLst>
              <a:gd name="adj" fmla="val 8182"/>
            </a:avLst>
          </a:prstGeom>
          <a:solidFill>
            <a:srgbClr val="FFF5F5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" y="1298448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1B23"/>
                </a:solidFill>
              </a:rPr>
              <a:t>Gradient descent update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0392" y="1572768"/>
            <a:ext cx="405993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</a:rPr>
              <a:t>xₖ₊₁ = xₖ − α ∇f(xₖ)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85800" y="2487168"/>
            <a:ext cx="43891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Text 6"/>
          <p:cNvSpPr/>
          <p:nvPr/>
        </p:nvSpPr>
        <p:spPr>
          <a:xfrm>
            <a:off x="960120" y="26426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Meaning of symbols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87552" y="3090672"/>
            <a:ext cx="3922776" cy="1725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F1F1F"/>
                </a:solidFill>
              </a:rPr>
              <a:t>xₖ = current solution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∇f(xₖ) = gradient/slope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α = learning rate or step size
</a:t>
            </a:r>
            <a:endParaRPr lang="en-US" sz="1600" dirty="0"/>
          </a:p>
          <a:p>
            <a:r>
              <a:rPr lang="en-US" sz="1600" dirty="0">
                <a:solidFill>
                  <a:srgbClr val="1F1F1F"/>
                </a:solidFill>
              </a:rPr>
              <a:t>Move opposite the gradient for minimization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32120" y="1188720"/>
            <a:ext cx="5669280" cy="3721608"/>
          </a:xfrm>
          <a:prstGeom prst="roundRect">
            <a:avLst>
              <a:gd name="adj" fmla="val 2211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6440" y="1572768"/>
            <a:ext cx="507492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Numerical: Gradient Descent in 4 Steps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55555"/>
                </a:solidFill>
              </a:rPr>
              <a:t>Minimize f(x) = (x − 4)² starting from x₀ = 10 with α = 0.2.</a:t>
            </a:r>
            <a:endParaRPr lang="en-US" sz="2800" b="1" dirty="0"/>
          </a:p>
        </p:txBody>
      </p:sp>
      <p:sp>
        <p:nvSpPr>
          <p:cNvPr id="5" name="Shape 2"/>
          <p:cNvSpPr/>
          <p:nvPr/>
        </p:nvSpPr>
        <p:spPr>
          <a:xfrm>
            <a:off x="685800" y="1188720"/>
            <a:ext cx="4572000" cy="1325880"/>
          </a:xfrm>
          <a:prstGeom prst="roundRect">
            <a:avLst>
              <a:gd name="adj" fmla="val 6207"/>
            </a:avLst>
          </a:prstGeom>
          <a:solidFill>
            <a:srgbClr val="FFF5F5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" y="1298448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</a:rPr>
              <a:t>Update rule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" y="1572768"/>
            <a:ext cx="424281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</a:rPr>
              <a:t>f′(x)=2(x−4)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</a:rPr>
              <a:t>xₖ₊₁ = xₖ − 0.2 × f′(xₖ)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834640"/>
            <a:ext cx="630749" cy="46634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0664" y="2889504"/>
            <a:ext cx="52102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316549" y="2834640"/>
            <a:ext cx="1212980" cy="46634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71413" y="2889504"/>
            <a:ext cx="11032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xₖ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29529" y="2834640"/>
            <a:ext cx="1455576" cy="46634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84393" y="2889504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f′(xₖ)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85104" y="2834640"/>
            <a:ext cx="1455576" cy="46634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39968" y="2889504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xₖ₊₁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3300984"/>
            <a:ext cx="630749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0664" y="3355848"/>
            <a:ext cx="52102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316549" y="3300984"/>
            <a:ext cx="12129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71413" y="3355848"/>
            <a:ext cx="11032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10.000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529529" y="3300984"/>
            <a:ext cx="145557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84393" y="3355848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12.000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5104" y="3300984"/>
            <a:ext cx="145557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39968" y="3355848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5800" y="3767328"/>
            <a:ext cx="630749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0664" y="3822192"/>
            <a:ext cx="52102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316549" y="3767328"/>
            <a:ext cx="1212980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371413" y="3822192"/>
            <a:ext cx="11032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7.600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529529" y="3767328"/>
            <a:ext cx="1455576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584393" y="3822192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7.200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985104" y="3767328"/>
            <a:ext cx="1455576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039968" y="3822192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6.160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85800" y="4233672"/>
            <a:ext cx="630749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40664" y="4288536"/>
            <a:ext cx="52102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316549" y="4233672"/>
            <a:ext cx="12129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71413" y="4288536"/>
            <a:ext cx="11032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6.160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529529" y="4233672"/>
            <a:ext cx="145557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584393" y="4288536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4.320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3985104" y="4233672"/>
            <a:ext cx="145557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039968" y="4288536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5.296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85800" y="4700016"/>
            <a:ext cx="630749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40664" y="4754880"/>
            <a:ext cx="52102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1316549" y="4700016"/>
            <a:ext cx="1212980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371413" y="4754880"/>
            <a:ext cx="11032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5.296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2529529" y="4700016"/>
            <a:ext cx="1455576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584393" y="4754880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2.592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3985104" y="4700016"/>
            <a:ext cx="1455576" cy="46634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039968" y="4754880"/>
            <a:ext cx="1345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4.778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806440" y="118872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760" y="1572768"/>
            <a:ext cx="4846320" cy="285292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17220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38B45"/>
                </a:solidFill>
              </a:rPr>
              <a:t>Interpretation: x moves from 10 toward 4, and f(x) keeps decreasing.</a:t>
            </a:r>
            <a:endParaRPr lang="en-US" sz="1220" dirty="0"/>
          </a:p>
        </p:txBody>
      </p:sp>
      <p:sp>
        <p:nvSpPr>
          <p:cNvPr id="51" name="Text 47"/>
          <p:cNvSpPr/>
          <p:nvPr/>
        </p:nvSpPr>
        <p:spPr>
          <a:xfrm>
            <a:off x="32004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</a:rPr>
              <a:t>Numerical Optimization | Chandigarh University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3B. Derivative-Free Optimization Methods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55555"/>
                </a:solidFill>
              </a:rPr>
              <a:t>Useful when gradients are unavailable, unreliable or expensive.</a:t>
            </a:r>
            <a:endParaRPr lang="en-US" sz="2400" b="1" dirty="0"/>
          </a:p>
        </p:txBody>
      </p:sp>
      <p:sp>
        <p:nvSpPr>
          <p:cNvPr id="5" name="Shape 2"/>
          <p:cNvSpPr/>
          <p:nvPr/>
        </p:nvSpPr>
        <p:spPr>
          <a:xfrm>
            <a:off x="685800" y="118872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" name="Text 3"/>
          <p:cNvSpPr/>
          <p:nvPr/>
        </p:nvSpPr>
        <p:spPr>
          <a:xfrm>
            <a:off x="96012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When do we use them?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3440" y="2029968"/>
            <a:ext cx="4797552" cy="298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function is non-smooth or has many local optima.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objective is noisy: repeated evaluations may change slightly.
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The variables are discrete, mixed or categorical.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</p:txBody>
      </p:sp>
      <p:sp>
        <p:nvSpPr>
          <p:cNvPr id="8" name="Shape 5"/>
          <p:cNvSpPr/>
          <p:nvPr/>
        </p:nvSpPr>
        <p:spPr>
          <a:xfrm>
            <a:off x="6172200" y="118872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Common examples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73952" y="1901952"/>
            <a:ext cx="4600448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Grid search / random search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Genetic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Differential Evolution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Particle Swarm Optimization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828800" y="5559552"/>
            <a:ext cx="9123680" cy="841248"/>
          </a:xfrm>
          <a:prstGeom prst="roundRect">
            <a:avLst>
              <a:gd name="adj" fmla="val 12500"/>
            </a:avLst>
          </a:prstGeom>
          <a:solidFill>
            <a:srgbClr val="FFF8F8"/>
          </a:solidFill>
          <a:ln w="1016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2011680" y="5724144"/>
            <a:ext cx="872699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</a:rPr>
              <a:t>Derivative-free methods ask: “Which trial worked better?” not “What is the exact slope?”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Numerical: Simple Derivative-Free Search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Choose an advertising spend level without using derivatives.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85800" y="1188720"/>
            <a:ext cx="4800600" cy="1097280"/>
          </a:xfrm>
          <a:prstGeom prst="roundRect">
            <a:avLst>
              <a:gd name="adj" fmla="val 7500"/>
            </a:avLst>
          </a:prstGeom>
          <a:solidFill>
            <a:srgbClr val="FFF8F8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31B23"/>
                </a:solidFill>
              </a:rPr>
              <a:t>Business objective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400" y="1609345"/>
            <a:ext cx="4343400" cy="65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Maximize expected profit:  P(x) = −2(x − 6)² + 80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where x = advertising spend in ₹ lakhs.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2011680" cy="38535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0664" y="2660904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x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97480" y="2606040"/>
            <a:ext cx="2788920" cy="385354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52344" y="2660904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P(x)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2991394"/>
            <a:ext cx="201168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0664" y="3046258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697480" y="2991394"/>
            <a:ext cx="278892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2344" y="3046258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3376749"/>
            <a:ext cx="201168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0664" y="3431613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697480" y="3376749"/>
            <a:ext cx="278892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52344" y="3431613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762103"/>
            <a:ext cx="201168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0664" y="3816967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697480" y="3762103"/>
            <a:ext cx="278892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52344" y="3816967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5800" y="4147457"/>
            <a:ext cx="201168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0664" y="4202321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697480" y="4147457"/>
            <a:ext cx="278892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52344" y="4202321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5800" y="4532811"/>
            <a:ext cx="201168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40664" y="4587675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697480" y="4532811"/>
            <a:ext cx="2788920" cy="38535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52344" y="4587675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85800" y="4918166"/>
            <a:ext cx="201168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40664" y="4973030"/>
            <a:ext cx="190195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2697480" y="4918166"/>
            <a:ext cx="2788920" cy="38535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752344" y="4973030"/>
            <a:ext cx="2679192" cy="275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897880" y="118872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200" y="1572768"/>
            <a:ext cx="4846320" cy="29718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309360" y="4681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8B45"/>
                </a:solidFill>
              </a:rPr>
              <a:t>Best observed value: x = 6 lakhs, profit = ₹80 lakhs.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Gradient-Based vs Derivative-Free: Which One Should We Choose?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55555"/>
                </a:solidFill>
              </a:rPr>
              <a:t>Method choice depends on the problem structure.</a:t>
            </a:r>
            <a:endParaRPr lang="en-US" sz="108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1920240" cy="548640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" y="138074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60" dirty="0"/>
          </a:p>
        </p:txBody>
      </p:sp>
      <p:sp>
        <p:nvSpPr>
          <p:cNvPr id="7" name="Shape 4"/>
          <p:cNvSpPr/>
          <p:nvPr/>
        </p:nvSpPr>
        <p:spPr>
          <a:xfrm>
            <a:off x="2651760" y="1325880"/>
            <a:ext cx="4206240" cy="548640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06624" y="138074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Gradient-Based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6858000" y="1325880"/>
            <a:ext cx="4572000" cy="548640"/>
          </a:xfrm>
          <a:prstGeom prst="rect">
            <a:avLst/>
          </a:prstGeom>
          <a:solidFill>
            <a:srgbClr val="E31B23"/>
          </a:solidFill>
          <a:ln w="635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12864" y="1380744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Derivative-Free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731520" y="187452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192938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slope?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2651760" y="187452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06624" y="192938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6858000" y="187452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12864" y="1929384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731520" y="2423160"/>
            <a:ext cx="192024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6384" y="24780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2651760" y="2423160"/>
            <a:ext cx="420624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06624" y="247802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fast</a:t>
            </a:r>
            <a:endParaRPr lang="en-US" sz="1160" dirty="0"/>
          </a:p>
        </p:txBody>
      </p:sp>
      <p:sp>
        <p:nvSpPr>
          <p:cNvPr id="21" name="Shape 18"/>
          <p:cNvSpPr/>
          <p:nvPr/>
        </p:nvSpPr>
        <p:spPr>
          <a:xfrm>
            <a:off x="6858000" y="2423160"/>
            <a:ext cx="457200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12864" y="2478024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slower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731520" y="29718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" y="3026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1160" dirty="0"/>
          </a:p>
        </p:txBody>
      </p:sp>
      <p:sp>
        <p:nvSpPr>
          <p:cNvPr id="25" name="Shape 22"/>
          <p:cNvSpPr/>
          <p:nvPr/>
        </p:nvSpPr>
        <p:spPr>
          <a:xfrm>
            <a:off x="2651760" y="297180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06624" y="302666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Smooth, continuous objectives</a:t>
            </a:r>
            <a:endParaRPr lang="en-US" sz="1160" dirty="0"/>
          </a:p>
        </p:txBody>
      </p:sp>
      <p:sp>
        <p:nvSpPr>
          <p:cNvPr id="27" name="Shape 24"/>
          <p:cNvSpPr/>
          <p:nvPr/>
        </p:nvSpPr>
        <p:spPr>
          <a:xfrm>
            <a:off x="6858000" y="29718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12864" y="3026664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Black-box, noisy, non-smooth problems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731520" y="3520440"/>
            <a:ext cx="192024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86384" y="357530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160" dirty="0"/>
          </a:p>
        </p:txBody>
      </p:sp>
      <p:sp>
        <p:nvSpPr>
          <p:cNvPr id="31" name="Shape 28"/>
          <p:cNvSpPr/>
          <p:nvPr/>
        </p:nvSpPr>
        <p:spPr>
          <a:xfrm>
            <a:off x="2651760" y="3520440"/>
            <a:ext cx="420624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706624" y="3575304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get trapped in local optimum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6858000" y="3520440"/>
            <a:ext cx="457200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912864" y="3575304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require many evaluations</a:t>
            </a:r>
            <a:endParaRPr lang="en-US" sz="1160" dirty="0"/>
          </a:p>
        </p:txBody>
      </p:sp>
      <p:sp>
        <p:nvSpPr>
          <p:cNvPr id="41" name="Shape 38"/>
          <p:cNvSpPr/>
          <p:nvPr/>
        </p:nvSpPr>
        <p:spPr>
          <a:xfrm>
            <a:off x="1051560" y="5138928"/>
            <a:ext cx="10058400" cy="841248"/>
          </a:xfrm>
          <a:prstGeom prst="roundRect">
            <a:avLst>
              <a:gd name="adj" fmla="val 9783"/>
            </a:avLst>
          </a:prstGeom>
          <a:solidFill>
            <a:srgbClr val="FFF8F8"/>
          </a:solidFill>
          <a:ln w="1016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234440" y="5303520"/>
            <a:ext cx="9692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</a:rPr>
              <a:t>Managerial decision rule: Use gradient-based methods when the model is smooth and transparent; use derivative-free methods when the model behaves like a black box.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1B75-F28A-2580-8931-0B8646CF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>
            <a:extLst>
              <a:ext uri="{FF2B5EF4-FFF2-40B4-BE49-F238E27FC236}">
                <a16:creationId xmlns:a16="http://schemas.microsoft.com/office/drawing/2014/main" id="{D59BCB66-7DC4-06BA-2264-F7DD28847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BA5996A-7CFB-3C8F-D62C-9EC644781EE3}"/>
              </a:ext>
            </a:extLst>
          </p:cNvPr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Poll: Convexity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2AABBC-8D75-C75B-B053-C9AA5CD910FC}"/>
              </a:ext>
            </a:extLst>
          </p:cNvPr>
          <p:cNvSpPr/>
          <p:nvPr/>
        </p:nvSpPr>
        <p:spPr>
          <a:xfrm>
            <a:off x="731520" y="1234440"/>
            <a:ext cx="1078992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2580499-73F0-740A-104C-CE2CB3514F45}"/>
              </a:ext>
            </a:extLst>
          </p:cNvPr>
          <p:cNvSpPr/>
          <p:nvPr/>
        </p:nvSpPr>
        <p:spPr>
          <a:xfrm>
            <a:off x="1066800" y="1440180"/>
            <a:ext cx="10454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</a:rPr>
              <a:t>MCQ: In a convex minimization problem, why is a local minimum very important?</a:t>
            </a:r>
            <a:endParaRPr lang="en-US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222209-1AA2-1F9C-0871-38B416579737}"/>
              </a:ext>
            </a:extLst>
          </p:cNvPr>
          <p:cNvSpPr/>
          <p:nvPr/>
        </p:nvSpPr>
        <p:spPr>
          <a:xfrm>
            <a:off x="1143000" y="2148840"/>
            <a:ext cx="9601200" cy="323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800" dirty="0">
                <a:solidFill>
                  <a:srgbClr val="1F1F1F"/>
                </a:solidFill>
              </a:rPr>
              <a:t>A. It is always worse than the global minimum.
</a:t>
            </a:r>
            <a:endParaRPr lang="en-US" sz="2800" dirty="0"/>
          </a:p>
          <a:p>
            <a:r>
              <a:rPr lang="en-US" sz="2800" dirty="0">
                <a:solidFill>
                  <a:srgbClr val="1F1F1F"/>
                </a:solidFill>
              </a:rPr>
              <a:t>B. It is also a global minimum.
</a:t>
            </a:r>
            <a:endParaRPr lang="en-US" sz="2800" dirty="0"/>
          </a:p>
          <a:p>
            <a:r>
              <a:rPr lang="en-US" sz="2800" dirty="0">
                <a:solidFill>
                  <a:srgbClr val="1F1F1F"/>
                </a:solidFill>
              </a:rPr>
              <a:t>C. It can exist only when the function is linear.
</a:t>
            </a:r>
            <a:endParaRPr lang="en-US" sz="2800" dirty="0"/>
          </a:p>
          <a:p>
            <a:r>
              <a:rPr lang="en-US" sz="2800" dirty="0">
                <a:solidFill>
                  <a:srgbClr val="1F1F1F"/>
                </a:solidFill>
              </a:rPr>
              <a:t>D. It occurs only at the boundary of the feasible region.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3605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Poll: Convexity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1078992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6002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MCQ: In a convex minimization problem, why is a local minimum very important?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" y="2148840"/>
            <a:ext cx="96012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500" dirty="0">
                <a:solidFill>
                  <a:srgbClr val="1F1F1F"/>
                </a:solidFill>
              </a:rPr>
              <a:t>A. It is always worse than the global minimum.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B. It is also a global minimum.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C. It can exist only when the function is linear.
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D. It occurs only at the boundary of the feasible region.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5840" y="4251960"/>
            <a:ext cx="9966960" cy="914400"/>
          </a:xfrm>
          <a:prstGeom prst="roundRect">
            <a:avLst>
              <a:gd name="adj" fmla="val 9000"/>
            </a:avLst>
          </a:prstGeom>
          <a:solidFill>
            <a:srgbClr val="F5FFF6"/>
          </a:solidFill>
          <a:ln w="1016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34440" y="44988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38B45"/>
                </a:solidFill>
              </a:rPr>
              <a:t>Answer: B. In convex minimization, every local minimum is global; this makes the solution more reliable.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" y="320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Summary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01752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</a:rPr>
              <a:t>In this session, we discussed the following.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22960" y="1325880"/>
            <a:ext cx="1056132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43000" y="1783080"/>
            <a:ext cx="9784080" cy="350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Local optimum is best nearby; global optimum is best over the full feasible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Convex problems are easier because a local optimum is also global.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Non-convex problems can have many local optima and need more careful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Numerical optimization methods improve a candidate solution step by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</a:rPr>
              <a:t>Gradient-based methods use slope; derivative-free methods use trial evaluations.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u_template_unzip/ppt/media/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0128" y="55686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Happy Learning!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788920" y="61081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</a:rPr>
              <a:t>Next: Evolutionary Computing Metaphor and Search Process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2358</Words>
  <Application>Microsoft Office PowerPoint</Application>
  <PresentationFormat>Widescreen</PresentationFormat>
  <Paragraphs>329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Chandigarh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Optimization: Local/Global Optimum, Convexity, Techniques, Gradient and Derivative-free Methods</dc:title>
  <dc:subject>Evolutionary Algorithms and Numerical Optimization</dc:subject>
  <dc:creator>OpenAI</dc:creator>
  <cp:lastModifiedBy>Vikash Singh</cp:lastModifiedBy>
  <cp:revision>24</cp:revision>
  <dcterms:created xsi:type="dcterms:W3CDTF">2026-08-09T08:58:53Z</dcterms:created>
  <dcterms:modified xsi:type="dcterms:W3CDTF">2026-08-15T17:36:32Z</dcterms:modified>
</cp:coreProperties>
</file>